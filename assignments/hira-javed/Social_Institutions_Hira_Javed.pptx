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3" r:id="rId24"/>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Assalam-o-Alaikum to my teacher and all my classmates. My name is Hira Javed. I am a B.Ed student at the University of Gujrat. Today, my topic is Social Institutions. This topic is from sociology.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Social institutions are the building blocks of society. You can see five of them on this slide. They are family, education, religion, economy and politics. Society stands on all five of them.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what I will talk about today. First, I will give an introduction and some definitions. Then I will explain characteristics and functions. Next, I will talk about the five main institutions one by one. After that, I will show how they are connected. At the end, I will talk about Pakistan and give a conclusion.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society has some basic needs. Children need care, and people need food, jobs and safety. People make fixed ways to meet these needs. These fixed ways are called social institutions. Remember, an institution is not a building. A government school is a building, but education is the institution.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sociologists have defined social institutions. Their definitions are written on this slide. In simple words, it is a lasting way to meet a need. It is organized, so it has clear roles and rules. It is lasting, so it goes on for many generations. And it meets a basic need of society.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see the main features of institutions. They are found in every society, big or small. They meet our basic needs and last for a long time. Each one has its own rules and customs. They also have symbols, like a school uniform or a flag. If one institution changes, the others also change.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Institutions do many jobs for society. They meet our basic needs and teach us good values. They control our behaviour with rules, rewards and punishments. They give us roles, like parent, teacher and worker. Some results are planned, like a school teaching reading. Some results are hidden, like making friends at school.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five basic institutions in every society. Family takes care of children and raises them. Education gives knowledge and skills. Religion gives meaning and good morals. The economy makes goods, and the state keeps law and order. Health, media and sports are also institutions today.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family is a group of people who live together, share work and money, and have children. It gives love, care and support, and it raises children. A nuclear family has only parents and their children. In a joint family, grandparents, parents and children live together. We often see joint families in our villages. We are born into one family, and we make another by marriage.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 passes knowledge, skills and culture to people. It prepares us for jobs and helps us move ahead. Formal education happens in schools, colleges and universities. Non-formal education includes skill training and adult literacy classes. We also learn informally from family, friends and media. In a government school, children also learn discipline and coming on time.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Religion gives meaning and purpose to our life. It brings people together and teaches good morals. It gives us comfort in hard times. It also teaches charity, like giving zakat. Religion has beliefs, rituals and a community of believers. On Eid, the whole community prays together.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economy deals with goods and services in society. It makes goods, sells them, and gives people jobs. A shopkeeper in the bazaar is part of the economy. When work is divided, people depend on one another. There are three systems: capitalism, socialism and mixed economy. A mixed economy is a mix of private and state ownership.</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political institution is also called the state. It holds power, makes laws and keeps order. It protects the country and solves conflicts. It also gives welfare services to the public. Its forms are monarchy, democracy, authoritarianism and totalitarianism. Authority can come from custom, personal qualities, or law.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institutions depend on each other. Family income decides food, house and children's schooling. The government pays for schools and sets the curriculum. Religion shapes marriage and roles in the family. Schools and universities prepare skilled workers for the economy. So, a change in one affects all the others.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look at our own country, Pakistan. Joint families and biradari ties are strong, especially in villages. We have public schools, private schools and madrassas. Islam is the state religion, and minorities have rights. Our economy is mixed, with farming, textiles and money from abroad. Pakistan has an elected parliament and four provinces.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conclude my topic. Social institutions meet the basic needs of society. The five main institutions all depend on each other. They give order, but they also change with time. In cities, many joint families are now becoming nuclear families. Strong institutions make a strong and stable society.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books and sources I used. They include sociology books and the Constitution of Pakistan. You can read them to learn more.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listening to me. I hope you now understand social institutions better. Now, do you have any questions? I will try my best to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8"/>
            <a:ext cx="7772400" cy="1102518"/>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0" y="3575446"/>
            <a:ext cx="0" cy="205382"/>
          </a:xfrm>
        </p:spPr>
        <p:txBody>
          <a:bodyPr/>
          <a:lstStyle/>
          <a:p>
            <a:endParaRPr lang="en-US"/>
          </a:p>
        </p:txBody>
      </p:sp>
      <p:sp>
        <p:nvSpPr>
          <p:cNvPr id="6" name="Slide Number Placeholder 5"/>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54483"/>
            <a:ext cx="0" cy="642937"/>
          </a:xfrm>
        </p:spPr>
        <p:txBody>
          <a:bodyPr/>
          <a:lstStyle/>
          <a:p>
            <a:r>
              <a:rPr lang="en-US" smtClean="0"/>
              <a:t>Click to edit Master title style</a:t>
            </a:r>
            <a:endParaRPr lang="en-US"/>
          </a:p>
        </p:txBody>
      </p:sp>
      <p:sp>
        <p:nvSpPr>
          <p:cNvPr id="3" name="Content Placeholder 2"/>
          <p:cNvSpPr>
            <a:spLocks noGrp="1"/>
          </p:cNvSpPr>
          <p:nvPr>
            <p:ph idx="1"/>
          </p:nvPr>
        </p:nvSpPr>
        <p:spPr>
          <a:xfrm>
            <a:off x="0" y="900112"/>
            <a:ext cx="0" cy="254585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0" y="3575446"/>
            <a:ext cx="0" cy="205382"/>
          </a:xfrm>
        </p:spPr>
        <p:txBody>
          <a:bodyPr/>
          <a:lstStyle/>
          <a:p>
            <a:endParaRPr lang="en-US"/>
          </a:p>
        </p:txBody>
      </p:sp>
      <p:sp>
        <p:nvSpPr>
          <p:cNvPr id="6" name="Slide Number Placeholder 5"/>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5"/>
            <a:ext cx="7772400" cy="1021556"/>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180034"/>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0" y="3575446"/>
            <a:ext cx="0" cy="205382"/>
          </a:xfrm>
        </p:spPr>
        <p:txBody>
          <a:bodyPr/>
          <a:lstStyle/>
          <a:p>
            <a:endParaRPr lang="en-US"/>
          </a:p>
        </p:txBody>
      </p:sp>
      <p:sp>
        <p:nvSpPr>
          <p:cNvPr id="6" name="Slide Number Placeholder 5"/>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54483"/>
            <a:ext cx="0" cy="642937"/>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0" y="3575446"/>
            <a:ext cx="0" cy="205382"/>
          </a:xfrm>
        </p:spPr>
        <p:txBody>
          <a:bodyPr/>
          <a:lstStyle/>
          <a:p>
            <a:endParaRPr lang="en-US"/>
          </a:p>
        </p:txBody>
      </p:sp>
      <p:sp>
        <p:nvSpPr>
          <p:cNvPr id="7" name="Slide Number Placeholder 6"/>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0" y="154483"/>
            <a:ext cx="0" cy="642937"/>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151334"/>
            <a:ext cx="4040188" cy="47982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151334"/>
            <a:ext cx="4041775" cy="47982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a:xfrm>
            <a:off x="0" y="3575446"/>
            <a:ext cx="0" cy="205382"/>
          </a:xfrm>
        </p:spPr>
        <p:txBody>
          <a:bodyPr/>
          <a:lstStyle/>
          <a:p>
            <a:endParaRPr lang="en-US"/>
          </a:p>
        </p:txBody>
      </p:sp>
      <p:sp>
        <p:nvSpPr>
          <p:cNvPr id="9" name="Slide Number Placeholder 8"/>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0" y="154483"/>
            <a:ext cx="0" cy="642937"/>
          </a:xfrm>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a:xfrm>
            <a:off x="0" y="3575446"/>
            <a:ext cx="0" cy="205382"/>
          </a:xfrm>
        </p:spPr>
        <p:txBody>
          <a:bodyPr/>
          <a:lstStyle/>
          <a:p>
            <a:endParaRPr lang="en-US"/>
          </a:p>
        </p:txBody>
      </p:sp>
      <p:sp>
        <p:nvSpPr>
          <p:cNvPr id="5" name="Slide Number Placeholder 4"/>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a:xfrm>
            <a:off x="0" y="3575446"/>
            <a:ext cx="0" cy="205382"/>
          </a:xfrm>
        </p:spPr>
        <p:txBody>
          <a:bodyPr/>
          <a:lstStyle/>
          <a:p>
            <a:endParaRPr lang="en-US"/>
          </a:p>
        </p:txBody>
      </p:sp>
      <p:sp>
        <p:nvSpPr>
          <p:cNvPr id="4" name="Slide Number Placeholder 3"/>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4787"/>
            <a:ext cx="3008313" cy="871537"/>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04787"/>
            <a:ext cx="5111750" cy="438983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076325"/>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0" y="3575446"/>
            <a:ext cx="0" cy="205382"/>
          </a:xfrm>
        </p:spPr>
        <p:txBody>
          <a:bodyPr/>
          <a:lstStyle/>
          <a:p>
            <a:endParaRPr lang="en-US"/>
          </a:p>
        </p:txBody>
      </p:sp>
      <p:sp>
        <p:nvSpPr>
          <p:cNvPr id="7" name="Slide Number Placeholder 6"/>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3"/>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a:xfrm>
            <a:off x="0" y="3575446"/>
            <a:ext cx="0" cy="205382"/>
          </a:xfrm>
        </p:spPr>
        <p:txBody>
          <a:bodyPr/>
          <a:lstStyle/>
          <a:p>
            <a:endParaRPr lang="en-US"/>
          </a:p>
        </p:txBody>
      </p:sp>
      <p:sp>
        <p:nvSpPr>
          <p:cNvPr id="7" name="Slide Number Placeholder 6"/>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0" y="154483"/>
            <a:ext cx="0" cy="642937"/>
          </a:xfr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0" y="900112"/>
            <a:ext cx="0" cy="25458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0" y="3575446"/>
            <a:ext cx="0" cy="205382"/>
          </a:xfrm>
        </p:spPr>
        <p:txBody>
          <a:bodyPr/>
          <a:lstStyle/>
          <a:p>
            <a:endParaRPr lang="en-US"/>
          </a:p>
        </p:txBody>
      </p:sp>
      <p:sp>
        <p:nvSpPr>
          <p:cNvPr id="6" name="Slide Number Placeholder 5"/>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8"/>
            <a:ext cx="2057400" cy="438864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05978"/>
            <a:ext cx="6019800" cy="438864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0" y="3575446"/>
            <a:ext cx="0" cy="205382"/>
          </a:xfrm>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a:xfrm>
            <a:off x="0" y="3575446"/>
            <a:ext cx="0" cy="205382"/>
          </a:xfrm>
        </p:spPr>
        <p:txBody>
          <a:bodyPr/>
          <a:lstStyle/>
          <a:p>
            <a:endParaRPr lang="en-US"/>
          </a:p>
        </p:txBody>
      </p:sp>
      <p:sp>
        <p:nvSpPr>
          <p:cNvPr id="6" name="Slide Number Placeholder 5"/>
          <p:cNvSpPr>
            <a:spLocks noGrp="1"/>
          </p:cNvSpPr>
          <p:nvPr>
            <p:ph type="sldNum" sz="quarter" idx="12"/>
          </p:nvPr>
        </p:nvSpPr>
        <p:spPr>
          <a:xfrm>
            <a:off x="0" y="3575446"/>
            <a:ext cx="0" cy="205382"/>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4767262"/>
            <a:ext cx="2133600" cy="273843"/>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4767262"/>
            <a:ext cx="2895600" cy="27384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2"/>
            <a:ext cx="2133600" cy="273843"/>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8.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image" Target="../media/image20.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22.png"/><Relationship Id="rId4" Type="http://schemas.openxmlformats.org/officeDocument/2006/relationships/image" Target="../media/image20.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image" Target="../media/image23.png"/><Relationship Id="rId4" Type="http://schemas.openxmlformats.org/officeDocument/2006/relationships/image" Target="../media/image20.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24.png"/><Relationship Id="rId4" Type="http://schemas.openxmlformats.org/officeDocument/2006/relationships/image" Target="../media/image20.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6.png"/><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23F"/>
        </a:solidFill>
        <a:effectLst/>
      </p:bgPr>
    </p:bg>
    <p:spTree>
      <p:nvGrpSpPr>
        <p:cNvPr id="1" name=""/>
        <p:cNvGrpSpPr/>
        <p:nvPr/>
      </p:nvGrpSpPr>
      <p:grpSpPr/>
      <p:sp>
        <p:nvSpPr>
          <p:cNvPr id="2" name="Logo card"/>
          <p:cNvSpPr/>
          <p:nvPr/>
        </p:nvSpPr>
        <p:spPr>
          <a:xfrm>
            <a:off x="548640" y="1380744"/>
            <a:ext cx="3200400" cy="237744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University of Gujrat logo" descr="uog_logo.jpg"/>
          <p:cNvPicPr>
            <a:picLocks noChangeAspect="1"/>
          </p:cNvPicPr>
          <p:nvPr/>
        </p:nvPicPr>
        <p:blipFill>
          <a:blip r:embed="rId2"/>
          <a:stretch>
            <a:fillRect/>
          </a:stretch>
        </p:blipFill>
        <p:spPr>
          <a:xfrm>
            <a:off x="777240" y="1683639"/>
            <a:ext cx="2743200" cy="1771650"/>
          </a:xfrm>
          <a:prstGeom prst="rect">
            <a:avLst/>
          </a:prstGeom>
        </p:spPr>
      </p:pic>
      <p:sp>
        <p:nvSpPr>
          <p:cNvPr id="100" name="TextBox 2"/>
          <p:cNvSpPr txBox="1"/>
          <p:nvPr/>
        </p:nvSpPr>
        <p:spPr>
          <a:xfrm>
            <a:off x="4206240" y="1088136"/>
            <a:ext cx="438912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1" i="0" spc="200">
                <a:solidFill>
                  <a:srgbClr val="E3A23B"/>
                </a:solidFill>
                <a:latin typeface="Times New Roman"/>
                <a:ea typeface="Times New Roman"/>
                <a:cs typeface="Times New Roman"/>
              </a:rPr>
              <a:t>SOCIOLOGY PRESENTATION</a:t>
            </a:r>
          </a:p>
        </p:txBody>
      </p:sp>
      <p:sp>
        <p:nvSpPr>
          <p:cNvPr id="101" name="Presentation title"/>
          <p:cNvSpPr txBox="1"/>
          <p:nvPr/>
        </p:nvSpPr>
        <p:spPr>
          <a:xfrm>
            <a:off x="4206240" y="1389888"/>
            <a:ext cx="4389120" cy="548640"/>
          </a:xfrm>
        </p:spPr>
        <p:txBody>
          <a:bodyPr wrap="square" lIns="0" rIns="0" tIns="0" bIns="0" anchor="t">
            <a:noAutofit/>
          </a:bodyPr>
          <a:lstStyle/>
          <a:p>
            <a:pPr algn="l" marL="0" indent="0">
              <a:lnSpc>
                <a:spcPct val="100000"/>
              </a:lnSpc>
              <a:spcBef>
                <a:spcPts val="0"/>
              </a:spcBef>
              <a:spcAft>
                <a:spcPts val="0"/>
              </a:spcAft>
              <a:buNone/>
            </a:pPr>
            <a:r>
              <a:rPr sz="3200" b="1" i="0">
                <a:solidFill>
                  <a:srgbClr val="FFFFFF"/>
                </a:solidFill>
                <a:latin typeface="Times New Roman"/>
                <a:ea typeface="Times New Roman"/>
                <a:cs typeface="Times New Roman"/>
              </a:rPr>
              <a:t>Social Institutions</a:t>
            </a:r>
          </a:p>
        </p:txBody>
      </p:sp>
      <p:sp>
        <p:nvSpPr>
          <p:cNvPr id="102" name="Details card"/>
          <p:cNvSpPr/>
          <p:nvPr/>
        </p:nvSpPr>
        <p:spPr>
          <a:xfrm>
            <a:off x="4206240" y="2240280"/>
            <a:ext cx="4389120" cy="1828800"/>
          </a:xfrm>
          <a:prstGeom prst="roundRect">
            <a:avLst>
              <a:gd name="adj" fmla="val 6451"/>
            </a:avLst>
          </a:prstGeom>
          <a:solidFill>
            <a:srgbClr val="1F4656"/>
          </a:solidFill>
          <a:ln>
            <a:noFill/>
          </a:ln>
        </p:spPr>
        <p:txBody>
          <a:bodyPr rtlCol="0" anchor="ctr"/>
          <a:lstStyle/>
          <a:p>
            <a:pPr algn="ctr"/>
          </a:p>
        </p:txBody>
      </p:sp>
      <p:sp>
        <p:nvSpPr>
          <p:cNvPr id="103" name="Presenter details"/>
          <p:cNvSpPr txBox="1"/>
          <p:nvPr/>
        </p:nvSpPr>
        <p:spPr>
          <a:xfrm>
            <a:off x="4434840" y="2377440"/>
            <a:ext cx="3931920" cy="1554480"/>
          </a:xfrm>
          <a:prstGeom prst="rect">
            <a:avLst/>
          </a:prstGeom>
          <a:noFill/>
        </p:spPr>
        <p:txBody>
          <a:bodyPr wrap="square" lIns="0" rIns="0" tIns="0" bIns="0" anchor="ctr">
            <a:noAutofit/>
          </a:bodyPr>
          <a:lstStyle/>
          <a:p>
            <a:pPr algn="l" marL="0" indent="0">
              <a:lnSpc>
                <a:spcPct val="100000"/>
              </a:lnSpc>
              <a:spcBef>
                <a:spcPts val="0"/>
              </a:spcBef>
              <a:spcAft>
                <a:spcPts val="500"/>
              </a:spcAft>
              <a:buNone/>
            </a:pPr>
            <a:r>
              <a:rPr sz="1300" b="1" i="0">
                <a:solidFill>
                  <a:srgbClr val="FFFFFF"/>
                </a:solidFill>
                <a:latin typeface="Times New Roman"/>
                <a:ea typeface="Times New Roman"/>
                <a:cs typeface="Times New Roman"/>
              </a:rPr>
              <a:t>Presented by:  </a:t>
            </a:r>
            <a:r>
              <a:rPr sz="1300" b="0" i="0">
                <a:solidFill>
                  <a:srgbClr val="C9DCE1"/>
                </a:solidFill>
                <a:latin typeface="Times New Roman"/>
                <a:ea typeface="Times New Roman"/>
                <a:cs typeface="Times New Roman"/>
              </a:rPr>
              <a:t>Hira Javed</a:t>
            </a:r>
          </a:p>
          <a:p>
            <a:pPr algn="l" marL="0" indent="0">
              <a:lnSpc>
                <a:spcPct val="100000"/>
              </a:lnSpc>
              <a:spcBef>
                <a:spcPts val="0"/>
              </a:spcBef>
              <a:spcAft>
                <a:spcPts val="500"/>
              </a:spcAft>
              <a:buNone/>
            </a:pPr>
            <a:r>
              <a:rPr sz="1300" b="1" i="0">
                <a:solidFill>
                  <a:srgbClr val="FFFFFF"/>
                </a:solidFill>
                <a:latin typeface="Times New Roman"/>
                <a:ea typeface="Times New Roman"/>
                <a:cs typeface="Times New Roman"/>
              </a:rPr>
              <a:t>Roll No:  </a:t>
            </a:r>
            <a:r>
              <a:rPr sz="1300" b="0" i="0">
                <a:solidFill>
                  <a:srgbClr val="C9DCE1"/>
                </a:solidFill>
                <a:latin typeface="Times New Roman"/>
                <a:ea typeface="Times New Roman"/>
                <a:cs typeface="Times New Roman"/>
              </a:rPr>
              <a:t>26017101-015</a:t>
            </a:r>
          </a:p>
          <a:p>
            <a:pPr algn="l" marL="0" indent="0">
              <a:lnSpc>
                <a:spcPct val="100000"/>
              </a:lnSpc>
              <a:spcBef>
                <a:spcPts val="0"/>
              </a:spcBef>
              <a:spcAft>
                <a:spcPts val="500"/>
              </a:spcAft>
              <a:buNone/>
            </a:pPr>
            <a:r>
              <a:rPr sz="1300" b="1" i="0">
                <a:solidFill>
                  <a:srgbClr val="FFFFFF"/>
                </a:solidFill>
                <a:latin typeface="Times New Roman"/>
                <a:ea typeface="Times New Roman"/>
                <a:cs typeface="Times New Roman"/>
              </a:rPr>
              <a:t>Class:  </a:t>
            </a:r>
            <a:r>
              <a:rPr sz="1300" b="0" i="0">
                <a:solidFill>
                  <a:srgbClr val="C9DCE1"/>
                </a:solidFill>
                <a:latin typeface="Times New Roman"/>
                <a:ea typeface="Times New Roman"/>
                <a:cs typeface="Times New Roman"/>
              </a:rPr>
              <a:t>B.Ed IV (Section-I)</a:t>
            </a:r>
          </a:p>
          <a:p>
            <a:pPr algn="l" marL="0" indent="0">
              <a:lnSpc>
                <a:spcPct val="100000"/>
              </a:lnSpc>
              <a:spcBef>
                <a:spcPts val="0"/>
              </a:spcBef>
              <a:spcAft>
                <a:spcPts val="500"/>
              </a:spcAft>
              <a:buNone/>
            </a:pPr>
            <a:r>
              <a:rPr sz="1300" b="1" i="0">
                <a:solidFill>
                  <a:srgbClr val="FFFFFF"/>
                </a:solidFill>
                <a:latin typeface="Times New Roman"/>
                <a:ea typeface="Times New Roman"/>
                <a:cs typeface="Times New Roman"/>
              </a:rPr>
              <a:t>Department:  </a:t>
            </a:r>
            <a:r>
              <a:rPr sz="1300" b="0" i="0">
                <a:solidFill>
                  <a:srgbClr val="C9DCE1"/>
                </a:solidFill>
                <a:latin typeface="Times New Roman"/>
                <a:ea typeface="Times New Roman"/>
                <a:cs typeface="Times New Roman"/>
              </a:rPr>
              <a:t>Education</a:t>
            </a:r>
          </a:p>
          <a:p>
            <a:pPr algn="l" marL="0" indent="0">
              <a:lnSpc>
                <a:spcPct val="100000"/>
              </a:lnSpc>
              <a:spcBef>
                <a:spcPts val="0"/>
              </a:spcBef>
              <a:spcAft>
                <a:spcPts val="0"/>
              </a:spcAft>
              <a:buNone/>
            </a:pPr>
            <a:r>
              <a:rPr sz="1300" b="1" i="0">
                <a:solidFill>
                  <a:srgbClr val="FFFFFF"/>
                </a:solidFill>
                <a:latin typeface="Times New Roman"/>
                <a:ea typeface="Times New Roman"/>
                <a:cs typeface="Times New Roman"/>
              </a:rPr>
              <a:t>University:  </a:t>
            </a:r>
            <a:r>
              <a:rPr sz="1300" b="0" i="0">
                <a:solidFill>
                  <a:srgbClr val="C9DCE1"/>
                </a:solidFill>
                <a:latin typeface="Times New Roman"/>
                <a:ea typeface="Times New Roman"/>
                <a:cs typeface="Times New Roman"/>
              </a:rPr>
              <a:t>University of Gujrat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323F"/>
        </a:solidFill>
        <a:effectLst/>
      </p:bgPr>
    </p:bg>
    <p:spTree>
      <p:nvGrpSpPr>
        <p:cNvPr id="1" name=""/>
        <p:cNvGrpSpPr/>
        <p:nvPr/>
      </p:nvGrpSpPr>
      <p:grpSpPr/>
      <p:sp>
        <p:nvSpPr>
          <p:cNvPr id="2" name="Title"/>
          <p:cNvSpPr>
            <a:spLocks noGrp="1"/>
          </p:cNvSpPr>
          <p:nvPr>
            <p:ph type="title"/>
          </p:nvPr>
        </p:nvSpPr>
        <p:spPr>
          <a:xfrm>
            <a:off x="548640" y="2240280"/>
            <a:ext cx="4206240" cy="548640"/>
          </a:xfrm>
        </p:spPr>
        <p:txBody>
          <a:bodyPr wrap="square" lIns="0" rIns="0" tIns="0" bIns="0" anchor="t">
            <a:noAutofit/>
          </a:bodyPr>
          <a:lstStyle/>
          <a:p>
            <a:pPr algn="l" marL="0" indent="0">
              <a:lnSpc>
                <a:spcPct val="100000"/>
              </a:lnSpc>
              <a:spcBef>
                <a:spcPts val="0"/>
              </a:spcBef>
              <a:spcAft>
                <a:spcPts val="0"/>
              </a:spcAft>
              <a:buNone/>
            </a:pPr>
            <a:r>
              <a:rPr sz="3200" b="1" i="0">
                <a:solidFill>
                  <a:srgbClr val="FFFFFF"/>
                </a:solidFill>
                <a:latin typeface="Times New Roman"/>
                <a:ea typeface="Times New Roman"/>
                <a:cs typeface="Times New Roman"/>
              </a:rPr>
              <a:t>Social Institutions</a:t>
            </a:r>
          </a:p>
        </p:txBody>
      </p:sp>
      <p:sp>
        <p:nvSpPr>
          <p:cNvPr id="3" name="TextBox 2"/>
          <p:cNvSpPr txBox="1"/>
          <p:nvPr/>
        </p:nvSpPr>
        <p:spPr>
          <a:xfrm>
            <a:off x="548640" y="1920240"/>
            <a:ext cx="457200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1" i="0" spc="200">
                <a:solidFill>
                  <a:srgbClr val="E3A23B"/>
                </a:solidFill>
                <a:latin typeface="Times New Roman"/>
                <a:ea typeface="Times New Roman"/>
                <a:cs typeface="Times New Roman"/>
              </a:rPr>
              <a:t>TODAY'S TOPIC</a:t>
            </a:r>
          </a:p>
        </p:txBody>
      </p:sp>
      <p:sp>
        <p:nvSpPr>
          <p:cNvPr id="4" name="TextBox 3"/>
          <p:cNvSpPr txBox="1"/>
          <p:nvPr/>
        </p:nvSpPr>
        <p:spPr>
          <a:xfrm>
            <a:off x="548640" y="2926080"/>
            <a:ext cx="457200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400" b="0" i="1">
                <a:solidFill>
                  <a:srgbClr val="C9DCE1"/>
                </a:solidFill>
                <a:latin typeface="Times New Roman"/>
                <a:ea typeface="Times New Roman"/>
                <a:cs typeface="Times New Roman"/>
              </a:rPr>
              <a:t>The building blocks of society</a:t>
            </a:r>
          </a:p>
        </p:txBody>
      </p:sp>
      <p:cxnSp>
        <p:nvCxnSpPr>
          <p:cNvPr id="7" name="Connector 6"/>
          <p:cNvCxnSpPr/>
          <p:nvPr/>
        </p:nvCxnSpPr>
        <p:spPr>
          <a:xfrm flipV="1">
            <a:off x="6720840" y="1280160"/>
            <a:ext cx="0" cy="1325880"/>
          </a:xfrm>
          <a:prstGeom prst="line">
            <a:avLst/>
          </a:prstGeom>
          <a:ln w="19050">
            <a:solidFill>
              <a:srgbClr val="3E6B7A"/>
            </a:solidFill>
          </a:ln>
        </p:spPr>
      </p:cxnSp>
      <p:cxnSp>
        <p:nvCxnSpPr>
          <p:cNvPr id="8" name="Connector 7"/>
          <p:cNvCxnSpPr/>
          <p:nvPr/>
        </p:nvCxnSpPr>
        <p:spPr>
          <a:xfrm flipV="1">
            <a:off x="6720840" y="2196320"/>
            <a:ext cx="1260986" cy="409720"/>
          </a:xfrm>
          <a:prstGeom prst="line">
            <a:avLst/>
          </a:prstGeom>
          <a:ln w="19050">
            <a:solidFill>
              <a:srgbClr val="3E6B7A"/>
            </a:solidFill>
          </a:ln>
        </p:spPr>
      </p:cxnSp>
      <p:cxnSp>
        <p:nvCxnSpPr>
          <p:cNvPr id="9" name="Connector 8"/>
          <p:cNvCxnSpPr/>
          <p:nvPr/>
        </p:nvCxnSpPr>
        <p:spPr>
          <a:xfrm>
            <a:off x="6720840" y="2606040"/>
            <a:ext cx="779332" cy="1072659"/>
          </a:xfrm>
          <a:prstGeom prst="line">
            <a:avLst/>
          </a:prstGeom>
          <a:ln w="19050">
            <a:solidFill>
              <a:srgbClr val="3E6B7A"/>
            </a:solidFill>
          </a:ln>
        </p:spPr>
      </p:cxnSp>
      <p:cxnSp>
        <p:nvCxnSpPr>
          <p:cNvPr id="10" name="Connector 9"/>
          <p:cNvCxnSpPr/>
          <p:nvPr/>
        </p:nvCxnSpPr>
        <p:spPr>
          <a:xfrm flipH="1">
            <a:off x="5941507" y="2606040"/>
            <a:ext cx="779333" cy="1072659"/>
          </a:xfrm>
          <a:prstGeom prst="line">
            <a:avLst/>
          </a:prstGeom>
          <a:ln w="19050">
            <a:solidFill>
              <a:srgbClr val="3E6B7A"/>
            </a:solidFill>
          </a:ln>
        </p:spPr>
      </p:cxnSp>
      <p:cxnSp>
        <p:nvCxnSpPr>
          <p:cNvPr id="11" name="Connector 10"/>
          <p:cNvCxnSpPr/>
          <p:nvPr/>
        </p:nvCxnSpPr>
        <p:spPr>
          <a:xfrm flipH="1" flipV="1">
            <a:off x="5459853" y="2196320"/>
            <a:ext cx="1260987" cy="409720"/>
          </a:xfrm>
          <a:prstGeom prst="line">
            <a:avLst/>
          </a:prstGeom>
          <a:ln w="19050">
            <a:solidFill>
              <a:srgbClr val="3E6B7A"/>
            </a:solidFill>
          </a:ln>
        </p:spPr>
      </p:cxnSp>
      <p:sp>
        <p:nvSpPr>
          <p:cNvPr id="12" name="Oval 11"/>
          <p:cNvSpPr/>
          <p:nvPr/>
        </p:nvSpPr>
        <p:spPr>
          <a:xfrm>
            <a:off x="6263640" y="2148840"/>
            <a:ext cx="914400" cy="914400"/>
          </a:xfrm>
          <a:prstGeom prst="ellipse">
            <a:avLst/>
          </a:prstGeom>
          <a:solidFill>
            <a:srgbClr val="E3A23B"/>
          </a:solidFill>
          <a:ln>
            <a:noFill/>
          </a:ln>
        </p:spPr>
        <p:txBody>
          <a:bodyPr rtlCol="0" anchor="ctr"/>
          <a:lstStyle/>
          <a:p>
            <a:pPr algn="ctr"/>
          </a:p>
        </p:txBody>
      </p:sp>
      <p:sp>
        <p:nvSpPr>
          <p:cNvPr id="13" name="Society"/>
          <p:cNvSpPr txBox="1"/>
          <p:nvPr/>
        </p:nvSpPr>
        <p:spPr>
          <a:xfrm>
            <a:off x="6263640" y="2148840"/>
            <a:ext cx="914400" cy="91440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14323F"/>
                </a:solidFill>
                <a:latin typeface="Times New Roman"/>
                <a:ea typeface="Times New Roman"/>
                <a:cs typeface="Times New Roman"/>
              </a:rPr>
              <a:t>Society</a:t>
            </a:r>
          </a:p>
        </p:txBody>
      </p:sp>
      <p:sp>
        <p:nvSpPr>
          <p:cNvPr id="14" name="Oval 13"/>
          <p:cNvSpPr/>
          <p:nvPr/>
        </p:nvSpPr>
        <p:spPr>
          <a:xfrm>
            <a:off x="6364224" y="923544"/>
            <a:ext cx="713232" cy="713232"/>
          </a:xfrm>
          <a:prstGeom prst="ellipse">
            <a:avLst/>
          </a:prstGeom>
          <a:solidFill>
            <a:srgbClr val="C2553F"/>
          </a:solidFill>
          <a:ln>
            <a:noFill/>
          </a:ln>
        </p:spPr>
        <p:txBody>
          <a:bodyPr rtlCol="0" anchor="ctr"/>
          <a:lstStyle/>
          <a:p>
            <a:pPr algn="ctr"/>
          </a:p>
        </p:txBody>
      </p:sp>
      <p:pic>
        <p:nvPicPr>
          <p:cNvPr id="15" name="Icon E902" descr="image.png"/>
          <p:cNvPicPr>
            <a:picLocks noChangeAspect="1"/>
          </p:cNvPicPr>
          <p:nvPr/>
        </p:nvPicPr>
        <p:blipFill>
          <a:blip r:embed="rId2"/>
          <a:stretch>
            <a:fillRect/>
          </a:stretch>
        </p:blipFill>
        <p:spPr>
          <a:xfrm>
            <a:off x="6521135" y="1080455"/>
            <a:ext cx="399409" cy="399409"/>
          </a:xfrm>
          <a:prstGeom prst="rect">
            <a:avLst/>
          </a:prstGeom>
        </p:spPr>
      </p:pic>
      <p:sp>
        <p:nvSpPr>
          <p:cNvPr id="16" name="Family label"/>
          <p:cNvSpPr txBox="1"/>
          <p:nvPr/>
        </p:nvSpPr>
        <p:spPr>
          <a:xfrm>
            <a:off x="6126479" y="630936"/>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Family</a:t>
            </a:r>
          </a:p>
        </p:txBody>
      </p:sp>
      <p:sp>
        <p:nvSpPr>
          <p:cNvPr id="17" name="Oval 16"/>
          <p:cNvSpPr/>
          <p:nvPr/>
        </p:nvSpPr>
        <p:spPr>
          <a:xfrm>
            <a:off x="7625210" y="1839704"/>
            <a:ext cx="713232" cy="713232"/>
          </a:xfrm>
          <a:prstGeom prst="ellipse">
            <a:avLst/>
          </a:prstGeom>
          <a:solidFill>
            <a:srgbClr val="2B6F8E"/>
          </a:solidFill>
          <a:ln>
            <a:noFill/>
          </a:ln>
        </p:spPr>
        <p:txBody>
          <a:bodyPr rtlCol="0" anchor="ctr"/>
          <a:lstStyle/>
          <a:p>
            <a:pPr algn="ctr"/>
          </a:p>
        </p:txBody>
      </p:sp>
      <p:pic>
        <p:nvPicPr>
          <p:cNvPr id="18" name="Icon E7BE" descr="image.png"/>
          <p:cNvPicPr>
            <a:picLocks noChangeAspect="1"/>
          </p:cNvPicPr>
          <p:nvPr/>
        </p:nvPicPr>
        <p:blipFill>
          <a:blip r:embed="rId3"/>
          <a:stretch>
            <a:fillRect/>
          </a:stretch>
        </p:blipFill>
        <p:spPr>
          <a:xfrm>
            <a:off x="7782121" y="1996615"/>
            <a:ext cx="399409" cy="399409"/>
          </a:xfrm>
          <a:prstGeom prst="rect">
            <a:avLst/>
          </a:prstGeom>
        </p:spPr>
      </p:pic>
      <p:sp>
        <p:nvSpPr>
          <p:cNvPr id="19" name="Education label"/>
          <p:cNvSpPr txBox="1"/>
          <p:nvPr/>
        </p:nvSpPr>
        <p:spPr>
          <a:xfrm>
            <a:off x="7387466" y="2589512"/>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Education</a:t>
            </a:r>
          </a:p>
        </p:txBody>
      </p:sp>
      <p:sp>
        <p:nvSpPr>
          <p:cNvPr id="20" name="Oval 19"/>
          <p:cNvSpPr/>
          <p:nvPr/>
        </p:nvSpPr>
        <p:spPr>
          <a:xfrm>
            <a:off x="7143556" y="3322083"/>
            <a:ext cx="713232" cy="713232"/>
          </a:xfrm>
          <a:prstGeom prst="ellipse">
            <a:avLst/>
          </a:prstGeom>
          <a:solidFill>
            <a:srgbClr val="3B7F52"/>
          </a:solidFill>
          <a:ln>
            <a:noFill/>
          </a:ln>
        </p:spPr>
        <p:txBody>
          <a:bodyPr rtlCol="0" anchor="ctr"/>
          <a:lstStyle/>
          <a:p>
            <a:pPr algn="ctr"/>
          </a:p>
        </p:txBody>
      </p:sp>
      <p:pic>
        <p:nvPicPr>
          <p:cNvPr id="21" name="Icon E708" descr="image.png"/>
          <p:cNvPicPr>
            <a:picLocks noChangeAspect="1"/>
          </p:cNvPicPr>
          <p:nvPr/>
        </p:nvPicPr>
        <p:blipFill>
          <a:blip r:embed="rId4"/>
          <a:stretch>
            <a:fillRect/>
          </a:stretch>
        </p:blipFill>
        <p:spPr>
          <a:xfrm>
            <a:off x="7300467" y="3478994"/>
            <a:ext cx="399409" cy="399409"/>
          </a:xfrm>
          <a:prstGeom prst="rect">
            <a:avLst/>
          </a:prstGeom>
        </p:spPr>
      </p:pic>
      <p:sp>
        <p:nvSpPr>
          <p:cNvPr id="22" name="Religion label"/>
          <p:cNvSpPr txBox="1"/>
          <p:nvPr/>
        </p:nvSpPr>
        <p:spPr>
          <a:xfrm>
            <a:off x="6905812" y="4071891"/>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Religion</a:t>
            </a:r>
          </a:p>
        </p:txBody>
      </p:sp>
      <p:sp>
        <p:nvSpPr>
          <p:cNvPr id="23" name="Oval 22"/>
          <p:cNvSpPr/>
          <p:nvPr/>
        </p:nvSpPr>
        <p:spPr>
          <a:xfrm>
            <a:off x="5584891" y="3322083"/>
            <a:ext cx="713232" cy="713232"/>
          </a:xfrm>
          <a:prstGeom prst="ellipse">
            <a:avLst/>
          </a:prstGeom>
          <a:solidFill>
            <a:srgbClr val="8F6516"/>
          </a:solidFill>
          <a:ln>
            <a:noFill/>
          </a:ln>
        </p:spPr>
        <p:txBody>
          <a:bodyPr rtlCol="0" anchor="ctr"/>
          <a:lstStyle/>
          <a:p>
            <a:pPr algn="ctr"/>
          </a:p>
        </p:txBody>
      </p:sp>
      <p:pic>
        <p:nvPicPr>
          <p:cNvPr id="24" name="Icon EAFC" descr="image.png"/>
          <p:cNvPicPr>
            <a:picLocks noChangeAspect="1"/>
          </p:cNvPicPr>
          <p:nvPr/>
        </p:nvPicPr>
        <p:blipFill>
          <a:blip r:embed="rId5"/>
          <a:stretch>
            <a:fillRect/>
          </a:stretch>
        </p:blipFill>
        <p:spPr>
          <a:xfrm>
            <a:off x="5741802" y="3478994"/>
            <a:ext cx="399409" cy="399409"/>
          </a:xfrm>
          <a:prstGeom prst="rect">
            <a:avLst/>
          </a:prstGeom>
        </p:spPr>
      </p:pic>
      <p:sp>
        <p:nvSpPr>
          <p:cNvPr id="25" name="Economy label"/>
          <p:cNvSpPr txBox="1"/>
          <p:nvPr/>
        </p:nvSpPr>
        <p:spPr>
          <a:xfrm>
            <a:off x="5347147" y="4071891"/>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Economy</a:t>
            </a:r>
          </a:p>
        </p:txBody>
      </p:sp>
      <p:sp>
        <p:nvSpPr>
          <p:cNvPr id="26" name="Oval 25"/>
          <p:cNvSpPr/>
          <p:nvPr/>
        </p:nvSpPr>
        <p:spPr>
          <a:xfrm>
            <a:off x="5103237" y="1839704"/>
            <a:ext cx="713232" cy="713232"/>
          </a:xfrm>
          <a:prstGeom prst="ellipse">
            <a:avLst/>
          </a:prstGeom>
          <a:solidFill>
            <a:srgbClr val="5E4785"/>
          </a:solidFill>
          <a:ln>
            <a:noFill/>
          </a:ln>
        </p:spPr>
        <p:txBody>
          <a:bodyPr rtlCol="0" anchor="ctr"/>
          <a:lstStyle/>
          <a:p>
            <a:pPr algn="ctr"/>
          </a:p>
        </p:txBody>
      </p:sp>
      <p:pic>
        <p:nvPicPr>
          <p:cNvPr id="27" name="Icon E825" descr="image.png"/>
          <p:cNvPicPr>
            <a:picLocks noChangeAspect="1"/>
          </p:cNvPicPr>
          <p:nvPr/>
        </p:nvPicPr>
        <p:blipFill>
          <a:blip r:embed="rId6"/>
          <a:stretch>
            <a:fillRect/>
          </a:stretch>
        </p:blipFill>
        <p:spPr>
          <a:xfrm>
            <a:off x="5260148" y="1996615"/>
            <a:ext cx="399409" cy="399409"/>
          </a:xfrm>
          <a:prstGeom prst="rect">
            <a:avLst/>
          </a:prstGeom>
        </p:spPr>
      </p:pic>
      <p:sp>
        <p:nvSpPr>
          <p:cNvPr id="28" name="Political label"/>
          <p:cNvSpPr txBox="1"/>
          <p:nvPr/>
        </p:nvSpPr>
        <p:spPr>
          <a:xfrm>
            <a:off x="4865493" y="2589512"/>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Political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Content List</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8FD"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3</a:t>
            </a:r>
          </a:p>
        </p:txBody>
      </p:sp>
      <p:sp>
        <p:nvSpPr>
          <p:cNvPr id="7" name="Rounded Rectangle 6"/>
          <p:cNvSpPr/>
          <p:nvPr/>
        </p:nvSpPr>
        <p:spPr>
          <a:xfrm>
            <a:off x="457200" y="960120"/>
            <a:ext cx="3977639" cy="402336"/>
          </a:xfrm>
          <a:prstGeom prst="roundRect">
            <a:avLst>
              <a:gd name="adj" fmla="val 50000"/>
            </a:avLst>
          </a:prstGeom>
          <a:solidFill>
            <a:srgbClr val="E9F2F3"/>
          </a:solidFill>
          <a:ln>
            <a:noFill/>
          </a:ln>
        </p:spPr>
        <p:txBody>
          <a:bodyPr rtlCol="0" anchor="ctr"/>
          <a:lstStyle/>
          <a:p>
            <a:pPr algn="ctr"/>
          </a:p>
        </p:txBody>
      </p:sp>
      <p:sp>
        <p:nvSpPr>
          <p:cNvPr id="8" name="Oval 7"/>
          <p:cNvSpPr/>
          <p:nvPr/>
        </p:nvSpPr>
        <p:spPr>
          <a:xfrm>
            <a:off x="512064" y="1014984"/>
            <a:ext cx="292608" cy="292608"/>
          </a:xfrm>
          <a:prstGeom prst="ellipse">
            <a:avLst/>
          </a:prstGeom>
          <a:solidFill>
            <a:srgbClr val="1F6F78"/>
          </a:solidFill>
          <a:ln>
            <a:noFill/>
          </a:ln>
        </p:spPr>
        <p:txBody>
          <a:bodyPr rtlCol="0" anchor="ctr"/>
          <a:lstStyle/>
          <a:p>
            <a:pPr algn="ctr"/>
          </a:p>
        </p:txBody>
      </p:sp>
      <p:sp>
        <p:nvSpPr>
          <p:cNvPr id="9" name="TextBox 8"/>
          <p:cNvSpPr txBox="1"/>
          <p:nvPr/>
        </p:nvSpPr>
        <p:spPr>
          <a:xfrm>
            <a:off x="512064" y="1014984"/>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a:t>
            </a:r>
          </a:p>
        </p:txBody>
      </p:sp>
      <p:sp>
        <p:nvSpPr>
          <p:cNvPr id="10" name="TextBox 9"/>
          <p:cNvSpPr txBox="1"/>
          <p:nvPr/>
        </p:nvSpPr>
        <p:spPr>
          <a:xfrm>
            <a:off x="932688" y="960120"/>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Introduction</a:t>
            </a:r>
          </a:p>
        </p:txBody>
      </p:sp>
      <p:sp>
        <p:nvSpPr>
          <p:cNvPr id="11" name="Rounded Rectangle 10"/>
          <p:cNvSpPr/>
          <p:nvPr/>
        </p:nvSpPr>
        <p:spPr>
          <a:xfrm>
            <a:off x="457200" y="1472184"/>
            <a:ext cx="3977639" cy="402336"/>
          </a:xfrm>
          <a:prstGeom prst="roundRect">
            <a:avLst>
              <a:gd name="adj" fmla="val 50000"/>
            </a:avLst>
          </a:prstGeom>
          <a:solidFill>
            <a:srgbClr val="E9F2F3"/>
          </a:solidFill>
          <a:ln>
            <a:noFill/>
          </a:ln>
        </p:spPr>
        <p:txBody>
          <a:bodyPr rtlCol="0" anchor="ctr"/>
          <a:lstStyle/>
          <a:p>
            <a:pPr algn="ctr"/>
          </a:p>
        </p:txBody>
      </p:sp>
      <p:sp>
        <p:nvSpPr>
          <p:cNvPr id="12" name="Oval 11"/>
          <p:cNvSpPr/>
          <p:nvPr/>
        </p:nvSpPr>
        <p:spPr>
          <a:xfrm>
            <a:off x="512064" y="1527048"/>
            <a:ext cx="292608" cy="292608"/>
          </a:xfrm>
          <a:prstGeom prst="ellipse">
            <a:avLst/>
          </a:prstGeom>
          <a:solidFill>
            <a:srgbClr val="1F6F78"/>
          </a:solidFill>
          <a:ln>
            <a:noFill/>
          </a:ln>
        </p:spPr>
        <p:txBody>
          <a:bodyPr rtlCol="0" anchor="ctr"/>
          <a:lstStyle/>
          <a:p>
            <a:pPr algn="ctr"/>
          </a:p>
        </p:txBody>
      </p:sp>
      <p:sp>
        <p:nvSpPr>
          <p:cNvPr id="13" name="TextBox 12"/>
          <p:cNvSpPr txBox="1"/>
          <p:nvPr/>
        </p:nvSpPr>
        <p:spPr>
          <a:xfrm>
            <a:off x="512064" y="1527048"/>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2</a:t>
            </a:r>
          </a:p>
        </p:txBody>
      </p:sp>
      <p:sp>
        <p:nvSpPr>
          <p:cNvPr id="14" name="TextBox 13"/>
          <p:cNvSpPr txBox="1"/>
          <p:nvPr/>
        </p:nvSpPr>
        <p:spPr>
          <a:xfrm>
            <a:off x="932688" y="1472184"/>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Definitions</a:t>
            </a:r>
          </a:p>
        </p:txBody>
      </p:sp>
      <p:sp>
        <p:nvSpPr>
          <p:cNvPr id="15" name="Rounded Rectangle 14"/>
          <p:cNvSpPr/>
          <p:nvPr/>
        </p:nvSpPr>
        <p:spPr>
          <a:xfrm>
            <a:off x="457200" y="1984248"/>
            <a:ext cx="3977639" cy="402336"/>
          </a:xfrm>
          <a:prstGeom prst="roundRect">
            <a:avLst>
              <a:gd name="adj" fmla="val 50000"/>
            </a:avLst>
          </a:prstGeom>
          <a:solidFill>
            <a:srgbClr val="E9F2F3"/>
          </a:solidFill>
          <a:ln>
            <a:noFill/>
          </a:ln>
        </p:spPr>
        <p:txBody>
          <a:bodyPr rtlCol="0" anchor="ctr"/>
          <a:lstStyle/>
          <a:p>
            <a:pPr algn="ctr"/>
          </a:p>
        </p:txBody>
      </p:sp>
      <p:sp>
        <p:nvSpPr>
          <p:cNvPr id="16" name="Oval 15"/>
          <p:cNvSpPr/>
          <p:nvPr/>
        </p:nvSpPr>
        <p:spPr>
          <a:xfrm>
            <a:off x="512064" y="2039112"/>
            <a:ext cx="292608" cy="292608"/>
          </a:xfrm>
          <a:prstGeom prst="ellipse">
            <a:avLst/>
          </a:prstGeom>
          <a:solidFill>
            <a:srgbClr val="1F6F78"/>
          </a:solidFill>
          <a:ln>
            <a:noFill/>
          </a:ln>
        </p:spPr>
        <p:txBody>
          <a:bodyPr rtlCol="0" anchor="ctr"/>
          <a:lstStyle/>
          <a:p>
            <a:pPr algn="ctr"/>
          </a:p>
        </p:txBody>
      </p:sp>
      <p:sp>
        <p:nvSpPr>
          <p:cNvPr id="17" name="TextBox 16"/>
          <p:cNvSpPr txBox="1"/>
          <p:nvPr/>
        </p:nvSpPr>
        <p:spPr>
          <a:xfrm>
            <a:off x="512064" y="2039112"/>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3</a:t>
            </a:r>
          </a:p>
        </p:txBody>
      </p:sp>
      <p:sp>
        <p:nvSpPr>
          <p:cNvPr id="18" name="TextBox 17"/>
          <p:cNvSpPr txBox="1"/>
          <p:nvPr/>
        </p:nvSpPr>
        <p:spPr>
          <a:xfrm>
            <a:off x="932688" y="1984248"/>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Characteristics</a:t>
            </a:r>
          </a:p>
        </p:txBody>
      </p:sp>
      <p:sp>
        <p:nvSpPr>
          <p:cNvPr id="19" name="Rounded Rectangle 18"/>
          <p:cNvSpPr/>
          <p:nvPr/>
        </p:nvSpPr>
        <p:spPr>
          <a:xfrm>
            <a:off x="457200" y="2496312"/>
            <a:ext cx="3977639" cy="402336"/>
          </a:xfrm>
          <a:prstGeom prst="roundRect">
            <a:avLst>
              <a:gd name="adj" fmla="val 50000"/>
            </a:avLst>
          </a:prstGeom>
          <a:solidFill>
            <a:srgbClr val="E9F2F3"/>
          </a:solidFill>
          <a:ln>
            <a:noFill/>
          </a:ln>
        </p:spPr>
        <p:txBody>
          <a:bodyPr rtlCol="0" anchor="ctr"/>
          <a:lstStyle/>
          <a:p>
            <a:pPr algn="ctr"/>
          </a:p>
        </p:txBody>
      </p:sp>
      <p:sp>
        <p:nvSpPr>
          <p:cNvPr id="20" name="Oval 19"/>
          <p:cNvSpPr/>
          <p:nvPr/>
        </p:nvSpPr>
        <p:spPr>
          <a:xfrm>
            <a:off x="512064" y="2551176"/>
            <a:ext cx="292608" cy="292608"/>
          </a:xfrm>
          <a:prstGeom prst="ellipse">
            <a:avLst/>
          </a:prstGeom>
          <a:solidFill>
            <a:srgbClr val="1F6F78"/>
          </a:solidFill>
          <a:ln>
            <a:noFill/>
          </a:ln>
        </p:spPr>
        <p:txBody>
          <a:bodyPr rtlCol="0" anchor="ctr"/>
          <a:lstStyle/>
          <a:p>
            <a:pPr algn="ctr"/>
          </a:p>
        </p:txBody>
      </p:sp>
      <p:sp>
        <p:nvSpPr>
          <p:cNvPr id="21" name="TextBox 20"/>
          <p:cNvSpPr txBox="1"/>
          <p:nvPr/>
        </p:nvSpPr>
        <p:spPr>
          <a:xfrm>
            <a:off x="512064" y="2551176"/>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4</a:t>
            </a:r>
          </a:p>
        </p:txBody>
      </p:sp>
      <p:sp>
        <p:nvSpPr>
          <p:cNvPr id="22" name="TextBox 21"/>
          <p:cNvSpPr txBox="1"/>
          <p:nvPr/>
        </p:nvSpPr>
        <p:spPr>
          <a:xfrm>
            <a:off x="932688" y="2496312"/>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Functions</a:t>
            </a:r>
          </a:p>
        </p:txBody>
      </p:sp>
      <p:sp>
        <p:nvSpPr>
          <p:cNvPr id="23" name="Rounded Rectangle 22"/>
          <p:cNvSpPr/>
          <p:nvPr/>
        </p:nvSpPr>
        <p:spPr>
          <a:xfrm>
            <a:off x="457200" y="3008376"/>
            <a:ext cx="3977639" cy="402336"/>
          </a:xfrm>
          <a:prstGeom prst="roundRect">
            <a:avLst>
              <a:gd name="adj" fmla="val 50000"/>
            </a:avLst>
          </a:prstGeom>
          <a:solidFill>
            <a:srgbClr val="E9F2F3"/>
          </a:solidFill>
          <a:ln>
            <a:noFill/>
          </a:ln>
        </p:spPr>
        <p:txBody>
          <a:bodyPr rtlCol="0" anchor="ctr"/>
          <a:lstStyle/>
          <a:p>
            <a:pPr algn="ctr"/>
          </a:p>
        </p:txBody>
      </p:sp>
      <p:sp>
        <p:nvSpPr>
          <p:cNvPr id="24" name="Oval 23"/>
          <p:cNvSpPr/>
          <p:nvPr/>
        </p:nvSpPr>
        <p:spPr>
          <a:xfrm>
            <a:off x="512064" y="3063240"/>
            <a:ext cx="292608" cy="292608"/>
          </a:xfrm>
          <a:prstGeom prst="ellipse">
            <a:avLst/>
          </a:prstGeom>
          <a:solidFill>
            <a:srgbClr val="1F6F78"/>
          </a:solidFill>
          <a:ln>
            <a:noFill/>
          </a:ln>
        </p:spPr>
        <p:txBody>
          <a:bodyPr rtlCol="0" anchor="ctr"/>
          <a:lstStyle/>
          <a:p>
            <a:pPr algn="ctr"/>
          </a:p>
        </p:txBody>
      </p:sp>
      <p:sp>
        <p:nvSpPr>
          <p:cNvPr id="25" name="TextBox 24"/>
          <p:cNvSpPr txBox="1"/>
          <p:nvPr/>
        </p:nvSpPr>
        <p:spPr>
          <a:xfrm>
            <a:off x="512064" y="3063240"/>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5</a:t>
            </a:r>
          </a:p>
        </p:txBody>
      </p:sp>
      <p:sp>
        <p:nvSpPr>
          <p:cNvPr id="26" name="TextBox 25"/>
          <p:cNvSpPr txBox="1"/>
          <p:nvPr/>
        </p:nvSpPr>
        <p:spPr>
          <a:xfrm>
            <a:off x="932688" y="3008376"/>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Types of Social Institutions</a:t>
            </a:r>
          </a:p>
        </p:txBody>
      </p:sp>
      <p:sp>
        <p:nvSpPr>
          <p:cNvPr id="27" name="Rounded Rectangle 26"/>
          <p:cNvSpPr/>
          <p:nvPr/>
        </p:nvSpPr>
        <p:spPr>
          <a:xfrm>
            <a:off x="457200" y="3520440"/>
            <a:ext cx="3977639" cy="402336"/>
          </a:xfrm>
          <a:prstGeom prst="roundRect">
            <a:avLst>
              <a:gd name="adj" fmla="val 50000"/>
            </a:avLst>
          </a:prstGeom>
          <a:solidFill>
            <a:srgbClr val="E9F2F3"/>
          </a:solidFill>
          <a:ln>
            <a:noFill/>
          </a:ln>
        </p:spPr>
        <p:txBody>
          <a:bodyPr rtlCol="0" anchor="ctr"/>
          <a:lstStyle/>
          <a:p>
            <a:pPr algn="ctr"/>
          </a:p>
        </p:txBody>
      </p:sp>
      <p:sp>
        <p:nvSpPr>
          <p:cNvPr id="28" name="Oval 27"/>
          <p:cNvSpPr/>
          <p:nvPr/>
        </p:nvSpPr>
        <p:spPr>
          <a:xfrm>
            <a:off x="512064" y="3575304"/>
            <a:ext cx="292608" cy="292608"/>
          </a:xfrm>
          <a:prstGeom prst="ellipse">
            <a:avLst/>
          </a:prstGeom>
          <a:solidFill>
            <a:srgbClr val="1F6F78"/>
          </a:solidFill>
          <a:ln>
            <a:noFill/>
          </a:ln>
        </p:spPr>
        <p:txBody>
          <a:bodyPr rtlCol="0" anchor="ctr"/>
          <a:lstStyle/>
          <a:p>
            <a:pPr algn="ctr"/>
          </a:p>
        </p:txBody>
      </p:sp>
      <p:sp>
        <p:nvSpPr>
          <p:cNvPr id="29" name="TextBox 28"/>
          <p:cNvSpPr txBox="1"/>
          <p:nvPr/>
        </p:nvSpPr>
        <p:spPr>
          <a:xfrm>
            <a:off x="512064" y="3575304"/>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6</a:t>
            </a:r>
          </a:p>
        </p:txBody>
      </p:sp>
      <p:sp>
        <p:nvSpPr>
          <p:cNvPr id="30" name="TextBox 29"/>
          <p:cNvSpPr txBox="1"/>
          <p:nvPr/>
        </p:nvSpPr>
        <p:spPr>
          <a:xfrm>
            <a:off x="932688" y="3520440"/>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Family</a:t>
            </a:r>
          </a:p>
        </p:txBody>
      </p:sp>
      <p:sp>
        <p:nvSpPr>
          <p:cNvPr id="31" name="Rounded Rectangle 30"/>
          <p:cNvSpPr/>
          <p:nvPr/>
        </p:nvSpPr>
        <p:spPr>
          <a:xfrm>
            <a:off x="457200" y="4032504"/>
            <a:ext cx="3977639" cy="402336"/>
          </a:xfrm>
          <a:prstGeom prst="roundRect">
            <a:avLst>
              <a:gd name="adj" fmla="val 50000"/>
            </a:avLst>
          </a:prstGeom>
          <a:solidFill>
            <a:srgbClr val="E9F2F3"/>
          </a:solidFill>
          <a:ln>
            <a:noFill/>
          </a:ln>
        </p:spPr>
        <p:txBody>
          <a:bodyPr rtlCol="0" anchor="ctr"/>
          <a:lstStyle/>
          <a:p>
            <a:pPr algn="ctr"/>
          </a:p>
        </p:txBody>
      </p:sp>
      <p:sp>
        <p:nvSpPr>
          <p:cNvPr id="32" name="Oval 31"/>
          <p:cNvSpPr/>
          <p:nvPr/>
        </p:nvSpPr>
        <p:spPr>
          <a:xfrm>
            <a:off x="512064" y="4087368"/>
            <a:ext cx="292608" cy="292608"/>
          </a:xfrm>
          <a:prstGeom prst="ellipse">
            <a:avLst/>
          </a:prstGeom>
          <a:solidFill>
            <a:srgbClr val="1F6F78"/>
          </a:solidFill>
          <a:ln>
            <a:noFill/>
          </a:ln>
        </p:spPr>
        <p:txBody>
          <a:bodyPr rtlCol="0" anchor="ctr"/>
          <a:lstStyle/>
          <a:p>
            <a:pPr algn="ctr"/>
          </a:p>
        </p:txBody>
      </p:sp>
      <p:sp>
        <p:nvSpPr>
          <p:cNvPr id="33" name="TextBox 32"/>
          <p:cNvSpPr txBox="1"/>
          <p:nvPr/>
        </p:nvSpPr>
        <p:spPr>
          <a:xfrm>
            <a:off x="512064" y="4087368"/>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7</a:t>
            </a:r>
          </a:p>
        </p:txBody>
      </p:sp>
      <p:sp>
        <p:nvSpPr>
          <p:cNvPr id="34" name="TextBox 33"/>
          <p:cNvSpPr txBox="1"/>
          <p:nvPr/>
        </p:nvSpPr>
        <p:spPr>
          <a:xfrm>
            <a:off x="932688" y="4032504"/>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Education</a:t>
            </a:r>
          </a:p>
        </p:txBody>
      </p:sp>
      <p:sp>
        <p:nvSpPr>
          <p:cNvPr id="35" name="Rounded Rectangle 34"/>
          <p:cNvSpPr/>
          <p:nvPr/>
        </p:nvSpPr>
        <p:spPr>
          <a:xfrm>
            <a:off x="4709160" y="960120"/>
            <a:ext cx="3977639" cy="402336"/>
          </a:xfrm>
          <a:prstGeom prst="roundRect">
            <a:avLst>
              <a:gd name="adj" fmla="val 50000"/>
            </a:avLst>
          </a:prstGeom>
          <a:solidFill>
            <a:srgbClr val="E9F2F3"/>
          </a:solidFill>
          <a:ln>
            <a:noFill/>
          </a:ln>
        </p:spPr>
        <p:txBody>
          <a:bodyPr rtlCol="0" anchor="ctr"/>
          <a:lstStyle/>
          <a:p>
            <a:pPr algn="ctr"/>
          </a:p>
        </p:txBody>
      </p:sp>
      <p:sp>
        <p:nvSpPr>
          <p:cNvPr id="36" name="Oval 35"/>
          <p:cNvSpPr/>
          <p:nvPr/>
        </p:nvSpPr>
        <p:spPr>
          <a:xfrm>
            <a:off x="4764024" y="1014984"/>
            <a:ext cx="292608" cy="292608"/>
          </a:xfrm>
          <a:prstGeom prst="ellipse">
            <a:avLst/>
          </a:prstGeom>
          <a:solidFill>
            <a:srgbClr val="1F6F78"/>
          </a:solidFill>
          <a:ln>
            <a:noFill/>
          </a:ln>
        </p:spPr>
        <p:txBody>
          <a:bodyPr rtlCol="0" anchor="ctr"/>
          <a:lstStyle/>
          <a:p>
            <a:pPr algn="ctr"/>
          </a:p>
        </p:txBody>
      </p:sp>
      <p:sp>
        <p:nvSpPr>
          <p:cNvPr id="37" name="TextBox 36"/>
          <p:cNvSpPr txBox="1"/>
          <p:nvPr/>
        </p:nvSpPr>
        <p:spPr>
          <a:xfrm>
            <a:off x="4764024" y="1014984"/>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8</a:t>
            </a:r>
          </a:p>
        </p:txBody>
      </p:sp>
      <p:sp>
        <p:nvSpPr>
          <p:cNvPr id="38" name="TextBox 37"/>
          <p:cNvSpPr txBox="1"/>
          <p:nvPr/>
        </p:nvSpPr>
        <p:spPr>
          <a:xfrm>
            <a:off x="5184648" y="960120"/>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Religion</a:t>
            </a:r>
          </a:p>
        </p:txBody>
      </p:sp>
      <p:sp>
        <p:nvSpPr>
          <p:cNvPr id="39" name="Rounded Rectangle 38"/>
          <p:cNvSpPr/>
          <p:nvPr/>
        </p:nvSpPr>
        <p:spPr>
          <a:xfrm>
            <a:off x="4709160" y="1472184"/>
            <a:ext cx="3977639" cy="402336"/>
          </a:xfrm>
          <a:prstGeom prst="roundRect">
            <a:avLst>
              <a:gd name="adj" fmla="val 50000"/>
            </a:avLst>
          </a:prstGeom>
          <a:solidFill>
            <a:srgbClr val="E9F2F3"/>
          </a:solidFill>
          <a:ln>
            <a:noFill/>
          </a:ln>
        </p:spPr>
        <p:txBody>
          <a:bodyPr rtlCol="0" anchor="ctr"/>
          <a:lstStyle/>
          <a:p>
            <a:pPr algn="ctr"/>
          </a:p>
        </p:txBody>
      </p:sp>
      <p:sp>
        <p:nvSpPr>
          <p:cNvPr id="40" name="Oval 39"/>
          <p:cNvSpPr/>
          <p:nvPr/>
        </p:nvSpPr>
        <p:spPr>
          <a:xfrm>
            <a:off x="4764024" y="1527048"/>
            <a:ext cx="292608" cy="292608"/>
          </a:xfrm>
          <a:prstGeom prst="ellipse">
            <a:avLst/>
          </a:prstGeom>
          <a:solidFill>
            <a:srgbClr val="1F6F78"/>
          </a:solidFill>
          <a:ln>
            <a:noFill/>
          </a:ln>
        </p:spPr>
        <p:txBody>
          <a:bodyPr rtlCol="0" anchor="ctr"/>
          <a:lstStyle/>
          <a:p>
            <a:pPr algn="ctr"/>
          </a:p>
        </p:txBody>
      </p:sp>
      <p:sp>
        <p:nvSpPr>
          <p:cNvPr id="41" name="TextBox 40"/>
          <p:cNvSpPr txBox="1"/>
          <p:nvPr/>
        </p:nvSpPr>
        <p:spPr>
          <a:xfrm>
            <a:off x="4764024" y="1527048"/>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9</a:t>
            </a:r>
          </a:p>
        </p:txBody>
      </p:sp>
      <p:sp>
        <p:nvSpPr>
          <p:cNvPr id="42" name="TextBox 41"/>
          <p:cNvSpPr txBox="1"/>
          <p:nvPr/>
        </p:nvSpPr>
        <p:spPr>
          <a:xfrm>
            <a:off x="5184648" y="1472184"/>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Economy</a:t>
            </a:r>
          </a:p>
        </p:txBody>
      </p:sp>
      <p:sp>
        <p:nvSpPr>
          <p:cNvPr id="43" name="Rounded Rectangle 42"/>
          <p:cNvSpPr/>
          <p:nvPr/>
        </p:nvSpPr>
        <p:spPr>
          <a:xfrm>
            <a:off x="4709160" y="1984248"/>
            <a:ext cx="3977639" cy="402336"/>
          </a:xfrm>
          <a:prstGeom prst="roundRect">
            <a:avLst>
              <a:gd name="adj" fmla="val 50000"/>
            </a:avLst>
          </a:prstGeom>
          <a:solidFill>
            <a:srgbClr val="E9F2F3"/>
          </a:solidFill>
          <a:ln>
            <a:noFill/>
          </a:ln>
        </p:spPr>
        <p:txBody>
          <a:bodyPr rtlCol="0" anchor="ctr"/>
          <a:lstStyle/>
          <a:p>
            <a:pPr algn="ctr"/>
          </a:p>
        </p:txBody>
      </p:sp>
      <p:sp>
        <p:nvSpPr>
          <p:cNvPr id="44" name="Oval 43"/>
          <p:cNvSpPr/>
          <p:nvPr/>
        </p:nvSpPr>
        <p:spPr>
          <a:xfrm>
            <a:off x="4764024" y="2039112"/>
            <a:ext cx="292608" cy="292608"/>
          </a:xfrm>
          <a:prstGeom prst="ellipse">
            <a:avLst/>
          </a:prstGeom>
          <a:solidFill>
            <a:srgbClr val="1F6F78"/>
          </a:solidFill>
          <a:ln>
            <a:noFill/>
          </a:ln>
        </p:spPr>
        <p:txBody>
          <a:bodyPr rtlCol="0" anchor="ctr"/>
          <a:lstStyle/>
          <a:p>
            <a:pPr algn="ctr"/>
          </a:p>
        </p:txBody>
      </p:sp>
      <p:sp>
        <p:nvSpPr>
          <p:cNvPr id="45" name="TextBox 44"/>
          <p:cNvSpPr txBox="1"/>
          <p:nvPr/>
        </p:nvSpPr>
        <p:spPr>
          <a:xfrm>
            <a:off x="4764024" y="2039112"/>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10</a:t>
            </a:r>
          </a:p>
        </p:txBody>
      </p:sp>
      <p:sp>
        <p:nvSpPr>
          <p:cNvPr id="46" name="TextBox 45"/>
          <p:cNvSpPr txBox="1"/>
          <p:nvPr/>
        </p:nvSpPr>
        <p:spPr>
          <a:xfrm>
            <a:off x="5184648" y="1984248"/>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Political Institution</a:t>
            </a:r>
          </a:p>
        </p:txBody>
      </p:sp>
      <p:sp>
        <p:nvSpPr>
          <p:cNvPr id="47" name="Rounded Rectangle 46"/>
          <p:cNvSpPr/>
          <p:nvPr/>
        </p:nvSpPr>
        <p:spPr>
          <a:xfrm>
            <a:off x="4709160" y="2496312"/>
            <a:ext cx="3977639" cy="402336"/>
          </a:xfrm>
          <a:prstGeom prst="roundRect">
            <a:avLst>
              <a:gd name="adj" fmla="val 50000"/>
            </a:avLst>
          </a:prstGeom>
          <a:solidFill>
            <a:srgbClr val="E9F2F3"/>
          </a:solidFill>
          <a:ln>
            <a:noFill/>
          </a:ln>
        </p:spPr>
        <p:txBody>
          <a:bodyPr rtlCol="0" anchor="ctr"/>
          <a:lstStyle/>
          <a:p>
            <a:pPr algn="ctr"/>
          </a:p>
        </p:txBody>
      </p:sp>
      <p:sp>
        <p:nvSpPr>
          <p:cNvPr id="48" name="Oval 47"/>
          <p:cNvSpPr/>
          <p:nvPr/>
        </p:nvSpPr>
        <p:spPr>
          <a:xfrm>
            <a:off x="4764024" y="2551176"/>
            <a:ext cx="292608" cy="292608"/>
          </a:xfrm>
          <a:prstGeom prst="ellipse">
            <a:avLst/>
          </a:prstGeom>
          <a:solidFill>
            <a:srgbClr val="1F6F78"/>
          </a:solidFill>
          <a:ln>
            <a:noFill/>
          </a:ln>
        </p:spPr>
        <p:txBody>
          <a:bodyPr rtlCol="0" anchor="ctr"/>
          <a:lstStyle/>
          <a:p>
            <a:pPr algn="ctr"/>
          </a:p>
        </p:txBody>
      </p:sp>
      <p:sp>
        <p:nvSpPr>
          <p:cNvPr id="49" name="TextBox 48"/>
          <p:cNvSpPr txBox="1"/>
          <p:nvPr/>
        </p:nvSpPr>
        <p:spPr>
          <a:xfrm>
            <a:off x="4764024" y="2551176"/>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11</a:t>
            </a:r>
          </a:p>
        </p:txBody>
      </p:sp>
      <p:sp>
        <p:nvSpPr>
          <p:cNvPr id="50" name="TextBox 49"/>
          <p:cNvSpPr txBox="1"/>
          <p:nvPr/>
        </p:nvSpPr>
        <p:spPr>
          <a:xfrm>
            <a:off x="5184648" y="2496312"/>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Interrelationship of Institutions</a:t>
            </a:r>
          </a:p>
        </p:txBody>
      </p:sp>
      <p:sp>
        <p:nvSpPr>
          <p:cNvPr id="51" name="Rounded Rectangle 50"/>
          <p:cNvSpPr/>
          <p:nvPr/>
        </p:nvSpPr>
        <p:spPr>
          <a:xfrm>
            <a:off x="4709160" y="3008376"/>
            <a:ext cx="3977639" cy="402336"/>
          </a:xfrm>
          <a:prstGeom prst="roundRect">
            <a:avLst>
              <a:gd name="adj" fmla="val 50000"/>
            </a:avLst>
          </a:prstGeom>
          <a:solidFill>
            <a:srgbClr val="E9F2F3"/>
          </a:solidFill>
          <a:ln>
            <a:noFill/>
          </a:ln>
        </p:spPr>
        <p:txBody>
          <a:bodyPr rtlCol="0" anchor="ctr"/>
          <a:lstStyle/>
          <a:p>
            <a:pPr algn="ctr"/>
          </a:p>
        </p:txBody>
      </p:sp>
      <p:sp>
        <p:nvSpPr>
          <p:cNvPr id="52" name="Oval 51"/>
          <p:cNvSpPr/>
          <p:nvPr/>
        </p:nvSpPr>
        <p:spPr>
          <a:xfrm>
            <a:off x="4764024" y="3063240"/>
            <a:ext cx="292608" cy="292608"/>
          </a:xfrm>
          <a:prstGeom prst="ellipse">
            <a:avLst/>
          </a:prstGeom>
          <a:solidFill>
            <a:srgbClr val="1F6F78"/>
          </a:solidFill>
          <a:ln>
            <a:noFill/>
          </a:ln>
        </p:spPr>
        <p:txBody>
          <a:bodyPr rtlCol="0" anchor="ctr"/>
          <a:lstStyle/>
          <a:p>
            <a:pPr algn="ctr"/>
          </a:p>
        </p:txBody>
      </p:sp>
      <p:sp>
        <p:nvSpPr>
          <p:cNvPr id="53" name="TextBox 52"/>
          <p:cNvSpPr txBox="1"/>
          <p:nvPr/>
        </p:nvSpPr>
        <p:spPr>
          <a:xfrm>
            <a:off x="4764024" y="3063240"/>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12</a:t>
            </a:r>
          </a:p>
        </p:txBody>
      </p:sp>
      <p:sp>
        <p:nvSpPr>
          <p:cNvPr id="54" name="TextBox 53"/>
          <p:cNvSpPr txBox="1"/>
          <p:nvPr/>
        </p:nvSpPr>
        <p:spPr>
          <a:xfrm>
            <a:off x="5184648" y="3008376"/>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Social Institutions in Pakistan</a:t>
            </a:r>
          </a:p>
        </p:txBody>
      </p:sp>
      <p:sp>
        <p:nvSpPr>
          <p:cNvPr id="55" name="Rounded Rectangle 54"/>
          <p:cNvSpPr/>
          <p:nvPr/>
        </p:nvSpPr>
        <p:spPr>
          <a:xfrm>
            <a:off x="4709160" y="3520440"/>
            <a:ext cx="3977639" cy="402336"/>
          </a:xfrm>
          <a:prstGeom prst="roundRect">
            <a:avLst>
              <a:gd name="adj" fmla="val 50000"/>
            </a:avLst>
          </a:prstGeom>
          <a:solidFill>
            <a:srgbClr val="E9F2F3"/>
          </a:solidFill>
          <a:ln>
            <a:noFill/>
          </a:ln>
        </p:spPr>
        <p:txBody>
          <a:bodyPr rtlCol="0" anchor="ctr"/>
          <a:lstStyle/>
          <a:p>
            <a:pPr algn="ctr"/>
          </a:p>
        </p:txBody>
      </p:sp>
      <p:sp>
        <p:nvSpPr>
          <p:cNvPr id="56" name="Oval 55"/>
          <p:cNvSpPr/>
          <p:nvPr/>
        </p:nvSpPr>
        <p:spPr>
          <a:xfrm>
            <a:off x="4764024" y="3575304"/>
            <a:ext cx="292608" cy="292608"/>
          </a:xfrm>
          <a:prstGeom prst="ellipse">
            <a:avLst/>
          </a:prstGeom>
          <a:solidFill>
            <a:srgbClr val="1F6F78"/>
          </a:solidFill>
          <a:ln>
            <a:noFill/>
          </a:ln>
        </p:spPr>
        <p:txBody>
          <a:bodyPr rtlCol="0" anchor="ctr"/>
          <a:lstStyle/>
          <a:p>
            <a:pPr algn="ctr"/>
          </a:p>
        </p:txBody>
      </p:sp>
      <p:sp>
        <p:nvSpPr>
          <p:cNvPr id="57" name="TextBox 56"/>
          <p:cNvSpPr txBox="1"/>
          <p:nvPr/>
        </p:nvSpPr>
        <p:spPr>
          <a:xfrm>
            <a:off x="4764024" y="3575304"/>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13</a:t>
            </a:r>
          </a:p>
        </p:txBody>
      </p:sp>
      <p:sp>
        <p:nvSpPr>
          <p:cNvPr id="58" name="TextBox 57"/>
          <p:cNvSpPr txBox="1"/>
          <p:nvPr/>
        </p:nvSpPr>
        <p:spPr>
          <a:xfrm>
            <a:off x="5184648" y="3520440"/>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Conclusion</a:t>
            </a:r>
          </a:p>
        </p:txBody>
      </p:sp>
      <p:sp>
        <p:nvSpPr>
          <p:cNvPr id="59" name="Rounded Rectangle 58"/>
          <p:cNvSpPr/>
          <p:nvPr/>
        </p:nvSpPr>
        <p:spPr>
          <a:xfrm>
            <a:off x="4709160" y="4032504"/>
            <a:ext cx="3977639" cy="402336"/>
          </a:xfrm>
          <a:prstGeom prst="roundRect">
            <a:avLst>
              <a:gd name="adj" fmla="val 50000"/>
            </a:avLst>
          </a:prstGeom>
          <a:solidFill>
            <a:srgbClr val="E9F2F3"/>
          </a:solidFill>
          <a:ln>
            <a:noFill/>
          </a:ln>
        </p:spPr>
        <p:txBody>
          <a:bodyPr rtlCol="0" anchor="ctr"/>
          <a:lstStyle/>
          <a:p>
            <a:pPr algn="ctr"/>
          </a:p>
        </p:txBody>
      </p:sp>
      <p:sp>
        <p:nvSpPr>
          <p:cNvPr id="60" name="Oval 59"/>
          <p:cNvSpPr/>
          <p:nvPr/>
        </p:nvSpPr>
        <p:spPr>
          <a:xfrm>
            <a:off x="4764024" y="4087368"/>
            <a:ext cx="292608" cy="292608"/>
          </a:xfrm>
          <a:prstGeom prst="ellipse">
            <a:avLst/>
          </a:prstGeom>
          <a:solidFill>
            <a:srgbClr val="1F6F78"/>
          </a:solidFill>
          <a:ln>
            <a:noFill/>
          </a:ln>
        </p:spPr>
        <p:txBody>
          <a:bodyPr rtlCol="0" anchor="ctr"/>
          <a:lstStyle/>
          <a:p>
            <a:pPr algn="ctr"/>
          </a:p>
        </p:txBody>
      </p:sp>
      <p:sp>
        <p:nvSpPr>
          <p:cNvPr id="61" name="TextBox 60"/>
          <p:cNvSpPr txBox="1"/>
          <p:nvPr/>
        </p:nvSpPr>
        <p:spPr>
          <a:xfrm>
            <a:off x="4764024" y="4087368"/>
            <a:ext cx="292608"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14</a:t>
            </a:r>
          </a:p>
        </p:txBody>
      </p:sp>
      <p:sp>
        <p:nvSpPr>
          <p:cNvPr id="62" name="TextBox 61"/>
          <p:cNvSpPr txBox="1"/>
          <p:nvPr/>
        </p:nvSpPr>
        <p:spPr>
          <a:xfrm>
            <a:off x="5184648" y="4032504"/>
            <a:ext cx="3383280" cy="402336"/>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References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Introduction</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946"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4</a:t>
            </a:r>
          </a:p>
        </p:txBody>
      </p:sp>
      <p:sp>
        <p:nvSpPr>
          <p:cNvPr id="7" name="TextBox 6"/>
          <p:cNvSpPr txBox="1"/>
          <p:nvPr/>
        </p:nvSpPr>
        <p:spPr>
          <a:xfrm>
            <a:off x="457200" y="960120"/>
            <a:ext cx="4480560" cy="3611880"/>
          </a:xfrm>
          <a:prstGeom prst="rect">
            <a:avLst/>
          </a:prstGeom>
          <a:noFill/>
        </p:spPr>
        <p:txBody>
          <a:bodyPr wrap="square" lIns="45720" rIns="45720" anchor="t">
            <a:noAutofit/>
          </a:bodyPr>
          <a:lstStyle/>
          <a:p>
            <a:pPr algn="l" marL="0" indent="0">
              <a:lnSpc>
                <a:spcPct val="100000"/>
              </a:lnSpc>
              <a:spcBef>
                <a:spcPts val="0"/>
              </a:spcBef>
              <a:spcAft>
                <a:spcPts val="800"/>
              </a:spcAft>
              <a:buNone/>
            </a:pPr>
            <a:r>
              <a:rPr sz="1200" b="1" i="0">
                <a:solidFill>
                  <a:srgbClr val="14323F"/>
                </a:solidFill>
                <a:latin typeface="Times New Roman"/>
                <a:ea typeface="Times New Roman"/>
                <a:cs typeface="Times New Roman"/>
              </a:rPr>
              <a:t>Why do societies need institutions?</a:t>
            </a:r>
          </a:p>
          <a:p>
            <a:pPr algn="l" marL="0" indent="0">
              <a:lnSpc>
                <a:spcPct val="100000"/>
              </a:lnSpc>
              <a:spcBef>
                <a:spcPts val="0"/>
              </a:spcBef>
              <a:spcAft>
                <a:spcPts val="800"/>
              </a:spcAft>
              <a:buNone/>
            </a:pPr>
            <a:r>
              <a:rPr sz="1100" b="0" i="0">
                <a:solidFill>
                  <a:srgbClr val="1E2A30"/>
                </a:solidFill>
                <a:latin typeface="Times New Roman"/>
                <a:ea typeface="Times New Roman"/>
                <a:cs typeface="Times New Roman"/>
              </a:rPr>
              <a:t>Every society must meet a few basic needs: raising children, passing on knowledge, giving life meaning, producing goods and keeping order.</a:t>
            </a:r>
          </a:p>
          <a:p>
            <a:pPr algn="l" marL="0" indent="0">
              <a:lnSpc>
                <a:spcPct val="100000"/>
              </a:lnSpc>
              <a:spcBef>
                <a:spcPts val="0"/>
              </a:spcBef>
              <a:spcAft>
                <a:spcPts val="800"/>
              </a:spcAft>
              <a:buNone/>
            </a:pPr>
            <a:r>
              <a:rPr sz="1100" b="0" i="0">
                <a:solidFill>
                  <a:srgbClr val="1E2A30"/>
                </a:solidFill>
                <a:latin typeface="Times New Roman"/>
                <a:ea typeface="Times New Roman"/>
                <a:cs typeface="Times New Roman"/>
              </a:rPr>
              <a:t>Over time, people develop stable and organized ways of meeting these needs. These established patterns of roles, rules and relationships are called social institutions.</a:t>
            </a:r>
          </a:p>
          <a:p>
            <a:pPr algn="l" marL="0" indent="0">
              <a:lnSpc>
                <a:spcPct val="100000"/>
              </a:lnSpc>
              <a:spcBef>
                <a:spcPts val="0"/>
              </a:spcBef>
              <a:spcAft>
                <a:spcPts val="0"/>
              </a:spcAft>
              <a:buNone/>
            </a:pPr>
            <a:r>
              <a:rPr sz="1100" b="1" i="0">
                <a:solidFill>
                  <a:srgbClr val="1F6F78"/>
                </a:solidFill>
                <a:latin typeface="Times New Roman"/>
                <a:ea typeface="Times New Roman"/>
                <a:cs typeface="Times New Roman"/>
              </a:rPr>
              <a:t>Note: </a:t>
            </a:r>
            <a:r>
              <a:rPr sz="1100" b="0" i="0">
                <a:solidFill>
                  <a:srgbClr val="1E2A30"/>
                </a:solidFill>
                <a:latin typeface="Times New Roman"/>
                <a:ea typeface="Times New Roman"/>
                <a:cs typeface="Times New Roman"/>
              </a:rPr>
              <a:t>an institution is not a building. A school is an organization; </a:t>
            </a:r>
            <a:r>
              <a:rPr sz="1100" b="0" i="1">
                <a:solidFill>
                  <a:srgbClr val="1E2A30"/>
                </a:solidFill>
                <a:latin typeface="Times New Roman"/>
                <a:ea typeface="Times New Roman"/>
                <a:cs typeface="Times New Roman"/>
              </a:rPr>
              <a:t>education</a:t>
            </a:r>
            <a:r>
              <a:rPr sz="1100" b="0" i="0">
                <a:solidFill>
                  <a:srgbClr val="1E2A30"/>
                </a:solidFill>
                <a:latin typeface="Times New Roman"/>
                <a:ea typeface="Times New Roman"/>
                <a:cs typeface="Times New Roman"/>
              </a:rPr>
              <a:t> is the institution behind it.</a:t>
            </a:r>
          </a:p>
        </p:txBody>
      </p:sp>
      <p:sp>
        <p:nvSpPr>
          <p:cNvPr id="8" name="Rounded Rectangle 7"/>
          <p:cNvSpPr/>
          <p:nvPr/>
        </p:nvSpPr>
        <p:spPr>
          <a:xfrm>
            <a:off x="457200" y="3291840"/>
            <a:ext cx="4480560" cy="1234440"/>
          </a:xfrm>
          <a:prstGeom prst="roundRect">
            <a:avLst>
              <a:gd name="adj" fmla="val 8888"/>
            </a:avLst>
          </a:prstGeom>
          <a:solidFill>
            <a:srgbClr val="14323F"/>
          </a:solidFill>
          <a:ln>
            <a:noFill/>
          </a:ln>
        </p:spPr>
        <p:txBody>
          <a:bodyPr rtlCol="0" anchor="ctr"/>
          <a:lstStyle/>
          <a:p>
            <a:pPr algn="ctr"/>
          </a:p>
        </p:txBody>
      </p:sp>
      <p:sp>
        <p:nvSpPr>
          <p:cNvPr id="9" name="Oval 8"/>
          <p:cNvSpPr/>
          <p:nvPr/>
        </p:nvSpPr>
        <p:spPr>
          <a:xfrm>
            <a:off x="658368" y="3502152"/>
            <a:ext cx="411480" cy="411480"/>
          </a:xfrm>
          <a:prstGeom prst="ellipse">
            <a:avLst/>
          </a:prstGeom>
          <a:solidFill>
            <a:srgbClr val="E3A23B"/>
          </a:solidFill>
          <a:ln>
            <a:noFill/>
          </a:ln>
        </p:spPr>
        <p:txBody>
          <a:bodyPr rtlCol="0" anchor="ctr"/>
          <a:lstStyle/>
          <a:p>
            <a:pPr algn="ctr"/>
          </a:p>
        </p:txBody>
      </p:sp>
      <p:pic>
        <p:nvPicPr>
          <p:cNvPr id="10" name="Icon E716" descr="image.png"/>
          <p:cNvPicPr>
            <a:picLocks noChangeAspect="1"/>
          </p:cNvPicPr>
          <p:nvPr/>
        </p:nvPicPr>
        <p:blipFill>
          <a:blip r:embed="rId3"/>
          <a:stretch>
            <a:fillRect/>
          </a:stretch>
        </p:blipFill>
        <p:spPr>
          <a:xfrm>
            <a:off x="748893" y="3592677"/>
            <a:ext cx="230428" cy="230428"/>
          </a:xfrm>
          <a:prstGeom prst="rect">
            <a:avLst/>
          </a:prstGeom>
        </p:spPr>
      </p:pic>
      <p:sp>
        <p:nvSpPr>
          <p:cNvPr id="11" name="TextBox 10"/>
          <p:cNvSpPr txBox="1"/>
          <p:nvPr/>
        </p:nvSpPr>
        <p:spPr>
          <a:xfrm>
            <a:off x="1234440" y="3291840"/>
            <a:ext cx="3520440" cy="1234440"/>
          </a:xfrm>
          <a:prstGeom prst="rect">
            <a:avLst/>
          </a:prstGeom>
          <a:noFill/>
        </p:spPr>
        <p:txBody>
          <a:bodyPr wrap="square" lIns="0" rIns="0" tIns="0" bIns="0" anchor="ctr">
            <a:noAutofit/>
          </a:bodyPr>
          <a:lstStyle/>
          <a:p>
            <a:pPr algn="l" marL="0" indent="0">
              <a:lnSpc>
                <a:spcPct val="100000"/>
              </a:lnSpc>
              <a:spcBef>
                <a:spcPts val="0"/>
              </a:spcBef>
              <a:spcAft>
                <a:spcPts val="300"/>
              </a:spcAft>
              <a:buNone/>
            </a:pPr>
            <a:r>
              <a:rPr sz="1200" b="1" i="0">
                <a:solidFill>
                  <a:srgbClr val="E3A23B"/>
                </a:solidFill>
                <a:latin typeface="Times New Roman"/>
                <a:ea typeface="Times New Roman"/>
                <a:cs typeface="Times New Roman"/>
              </a:rPr>
              <a:t>The functionalist view</a:t>
            </a:r>
          </a:p>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Like organs in a body, each institution performs a task that keeps the whole of society working (Durkheim, 1893/1984).</a:t>
            </a:r>
          </a:p>
        </p:txBody>
      </p:sp>
      <p:sp>
        <p:nvSpPr>
          <p:cNvPr id="12" name="TextBox 11"/>
          <p:cNvSpPr txBox="1"/>
          <p:nvPr/>
        </p:nvSpPr>
        <p:spPr>
          <a:xfrm>
            <a:off x="5257800" y="960120"/>
            <a:ext cx="342900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1" i="0">
                <a:solidFill>
                  <a:srgbClr val="56646B"/>
                </a:solidFill>
                <a:latin typeface="Times New Roman"/>
                <a:ea typeface="Times New Roman"/>
                <a:cs typeface="Times New Roman"/>
              </a:rPr>
              <a:t>Basic need</a:t>
            </a:r>
          </a:p>
        </p:txBody>
      </p:sp>
      <p:sp>
        <p:nvSpPr>
          <p:cNvPr id="13" name="TextBox 12"/>
          <p:cNvSpPr txBox="1"/>
          <p:nvPr/>
        </p:nvSpPr>
        <p:spPr>
          <a:xfrm>
            <a:off x="7315200" y="960120"/>
            <a:ext cx="137160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1" i="0">
                <a:solidFill>
                  <a:srgbClr val="56646B"/>
                </a:solidFill>
                <a:latin typeface="Times New Roman"/>
                <a:ea typeface="Times New Roman"/>
                <a:cs typeface="Times New Roman"/>
              </a:rPr>
              <a:t>Institution</a:t>
            </a:r>
          </a:p>
        </p:txBody>
      </p:sp>
      <p:sp>
        <p:nvSpPr>
          <p:cNvPr id="14" name="Rounded Rectangle 13"/>
          <p:cNvSpPr/>
          <p:nvPr/>
        </p:nvSpPr>
        <p:spPr>
          <a:xfrm>
            <a:off x="5257800" y="1298448"/>
            <a:ext cx="1783080" cy="475488"/>
          </a:xfrm>
          <a:prstGeom prst="roundRect">
            <a:avLst>
              <a:gd name="adj" fmla="val 19230"/>
            </a:avLst>
          </a:prstGeom>
          <a:solidFill>
            <a:srgbClr val="F8E9E5"/>
          </a:solidFill>
          <a:ln>
            <a:noFill/>
          </a:ln>
        </p:spPr>
        <p:txBody>
          <a:bodyPr rtlCol="0" anchor="ctr"/>
          <a:lstStyle/>
          <a:p>
            <a:pPr algn="ctr"/>
          </a:p>
        </p:txBody>
      </p:sp>
      <p:sp>
        <p:nvSpPr>
          <p:cNvPr id="15" name="TextBox 14"/>
          <p:cNvSpPr txBox="1"/>
          <p:nvPr/>
        </p:nvSpPr>
        <p:spPr>
          <a:xfrm>
            <a:off x="5349240" y="1298448"/>
            <a:ext cx="164592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Care of children</a:t>
            </a:r>
          </a:p>
        </p:txBody>
      </p:sp>
      <p:cxnSp>
        <p:nvCxnSpPr>
          <p:cNvPr id="16" name="Connector 15"/>
          <p:cNvCxnSpPr/>
          <p:nvPr/>
        </p:nvCxnSpPr>
        <p:spPr>
          <a:xfrm>
            <a:off x="7059168" y="1536192"/>
            <a:ext cx="237744" cy="0"/>
          </a:xfrm>
          <a:prstGeom prst="line">
            <a:avLst/>
          </a:prstGeom>
          <a:ln w="19050">
            <a:solidFill>
              <a:srgbClr val="C2553F"/>
            </a:solidFill>
          </a:ln>
        </p:spPr>
      </p:cxnSp>
      <p:sp>
        <p:nvSpPr>
          <p:cNvPr id="17" name="Rounded Rectangle 16"/>
          <p:cNvSpPr/>
          <p:nvPr/>
        </p:nvSpPr>
        <p:spPr>
          <a:xfrm>
            <a:off x="7315200" y="1298448"/>
            <a:ext cx="1371600" cy="475488"/>
          </a:xfrm>
          <a:prstGeom prst="roundRect">
            <a:avLst>
              <a:gd name="adj" fmla="val 19230"/>
            </a:avLst>
          </a:prstGeom>
          <a:solidFill>
            <a:srgbClr val="C2553F"/>
          </a:solidFill>
          <a:ln>
            <a:noFill/>
          </a:ln>
        </p:spPr>
        <p:txBody>
          <a:bodyPr rtlCol="0" anchor="ctr"/>
          <a:lstStyle/>
          <a:p>
            <a:pPr algn="ctr"/>
          </a:p>
        </p:txBody>
      </p:sp>
      <p:sp>
        <p:nvSpPr>
          <p:cNvPr id="18" name="TextBox 17"/>
          <p:cNvSpPr txBox="1"/>
          <p:nvPr/>
        </p:nvSpPr>
        <p:spPr>
          <a:xfrm>
            <a:off x="7315200" y="1298448"/>
            <a:ext cx="1371600" cy="47548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Family</a:t>
            </a:r>
          </a:p>
        </p:txBody>
      </p:sp>
      <p:sp>
        <p:nvSpPr>
          <p:cNvPr id="19" name="Rounded Rectangle 18"/>
          <p:cNvSpPr/>
          <p:nvPr/>
        </p:nvSpPr>
        <p:spPr>
          <a:xfrm>
            <a:off x="5257800" y="1956815"/>
            <a:ext cx="1783080" cy="475488"/>
          </a:xfrm>
          <a:prstGeom prst="roundRect">
            <a:avLst>
              <a:gd name="adj" fmla="val 19230"/>
            </a:avLst>
          </a:prstGeom>
          <a:solidFill>
            <a:srgbClr val="E5F0F5"/>
          </a:solidFill>
          <a:ln>
            <a:noFill/>
          </a:ln>
        </p:spPr>
        <p:txBody>
          <a:bodyPr rtlCol="0" anchor="ctr"/>
          <a:lstStyle/>
          <a:p>
            <a:pPr algn="ctr"/>
          </a:p>
        </p:txBody>
      </p:sp>
      <p:sp>
        <p:nvSpPr>
          <p:cNvPr id="20" name="TextBox 19"/>
          <p:cNvSpPr txBox="1"/>
          <p:nvPr/>
        </p:nvSpPr>
        <p:spPr>
          <a:xfrm>
            <a:off x="5349240" y="1956815"/>
            <a:ext cx="164592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Knowledge and skills</a:t>
            </a:r>
          </a:p>
        </p:txBody>
      </p:sp>
      <p:cxnSp>
        <p:nvCxnSpPr>
          <p:cNvPr id="21" name="Connector 20"/>
          <p:cNvCxnSpPr/>
          <p:nvPr/>
        </p:nvCxnSpPr>
        <p:spPr>
          <a:xfrm>
            <a:off x="7059168" y="2194559"/>
            <a:ext cx="237744" cy="0"/>
          </a:xfrm>
          <a:prstGeom prst="line">
            <a:avLst/>
          </a:prstGeom>
          <a:ln w="19050">
            <a:solidFill>
              <a:srgbClr val="2B6F8E"/>
            </a:solidFill>
          </a:ln>
        </p:spPr>
      </p:cxnSp>
      <p:sp>
        <p:nvSpPr>
          <p:cNvPr id="22" name="Rounded Rectangle 21"/>
          <p:cNvSpPr/>
          <p:nvPr/>
        </p:nvSpPr>
        <p:spPr>
          <a:xfrm>
            <a:off x="7315200" y="1956815"/>
            <a:ext cx="1371600" cy="475488"/>
          </a:xfrm>
          <a:prstGeom prst="roundRect">
            <a:avLst>
              <a:gd name="adj" fmla="val 19230"/>
            </a:avLst>
          </a:prstGeom>
          <a:solidFill>
            <a:srgbClr val="2B6F8E"/>
          </a:solidFill>
          <a:ln>
            <a:noFill/>
          </a:ln>
        </p:spPr>
        <p:txBody>
          <a:bodyPr rtlCol="0" anchor="ctr"/>
          <a:lstStyle/>
          <a:p>
            <a:pPr algn="ctr"/>
          </a:p>
        </p:txBody>
      </p:sp>
      <p:sp>
        <p:nvSpPr>
          <p:cNvPr id="23" name="TextBox 22"/>
          <p:cNvSpPr txBox="1"/>
          <p:nvPr/>
        </p:nvSpPr>
        <p:spPr>
          <a:xfrm>
            <a:off x="7315200" y="1956815"/>
            <a:ext cx="1371600" cy="47548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Education</a:t>
            </a:r>
          </a:p>
        </p:txBody>
      </p:sp>
      <p:sp>
        <p:nvSpPr>
          <p:cNvPr id="24" name="Rounded Rectangle 23"/>
          <p:cNvSpPr/>
          <p:nvPr/>
        </p:nvSpPr>
        <p:spPr>
          <a:xfrm>
            <a:off x="5257800" y="2615184"/>
            <a:ext cx="1783080" cy="475488"/>
          </a:xfrm>
          <a:prstGeom prst="roundRect">
            <a:avLst>
              <a:gd name="adj" fmla="val 19230"/>
            </a:avLst>
          </a:prstGeom>
          <a:solidFill>
            <a:srgbClr val="E7F2EA"/>
          </a:solidFill>
          <a:ln>
            <a:noFill/>
          </a:ln>
        </p:spPr>
        <p:txBody>
          <a:bodyPr rtlCol="0" anchor="ctr"/>
          <a:lstStyle/>
          <a:p>
            <a:pPr algn="ctr"/>
          </a:p>
        </p:txBody>
      </p:sp>
      <p:sp>
        <p:nvSpPr>
          <p:cNvPr id="25" name="TextBox 24"/>
          <p:cNvSpPr txBox="1"/>
          <p:nvPr/>
        </p:nvSpPr>
        <p:spPr>
          <a:xfrm>
            <a:off x="5349240" y="2615184"/>
            <a:ext cx="164592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Meaning and morals</a:t>
            </a:r>
          </a:p>
        </p:txBody>
      </p:sp>
      <p:cxnSp>
        <p:nvCxnSpPr>
          <p:cNvPr id="26" name="Connector 25"/>
          <p:cNvCxnSpPr/>
          <p:nvPr/>
        </p:nvCxnSpPr>
        <p:spPr>
          <a:xfrm>
            <a:off x="7059168" y="2852928"/>
            <a:ext cx="237744" cy="0"/>
          </a:xfrm>
          <a:prstGeom prst="line">
            <a:avLst/>
          </a:prstGeom>
          <a:ln w="19050">
            <a:solidFill>
              <a:srgbClr val="3B7F52"/>
            </a:solidFill>
          </a:ln>
        </p:spPr>
      </p:cxnSp>
      <p:sp>
        <p:nvSpPr>
          <p:cNvPr id="27" name="Rounded Rectangle 26"/>
          <p:cNvSpPr/>
          <p:nvPr/>
        </p:nvSpPr>
        <p:spPr>
          <a:xfrm>
            <a:off x="7315200" y="2615184"/>
            <a:ext cx="1371600" cy="475488"/>
          </a:xfrm>
          <a:prstGeom prst="roundRect">
            <a:avLst>
              <a:gd name="adj" fmla="val 19230"/>
            </a:avLst>
          </a:prstGeom>
          <a:solidFill>
            <a:srgbClr val="3B7F52"/>
          </a:solidFill>
          <a:ln>
            <a:noFill/>
          </a:ln>
        </p:spPr>
        <p:txBody>
          <a:bodyPr rtlCol="0" anchor="ctr"/>
          <a:lstStyle/>
          <a:p>
            <a:pPr algn="ctr"/>
          </a:p>
        </p:txBody>
      </p:sp>
      <p:sp>
        <p:nvSpPr>
          <p:cNvPr id="28" name="TextBox 27"/>
          <p:cNvSpPr txBox="1"/>
          <p:nvPr/>
        </p:nvSpPr>
        <p:spPr>
          <a:xfrm>
            <a:off x="7315200" y="2615184"/>
            <a:ext cx="1371600" cy="47548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Religion</a:t>
            </a:r>
          </a:p>
        </p:txBody>
      </p:sp>
      <p:sp>
        <p:nvSpPr>
          <p:cNvPr id="29" name="Rounded Rectangle 28"/>
          <p:cNvSpPr/>
          <p:nvPr/>
        </p:nvSpPr>
        <p:spPr>
          <a:xfrm>
            <a:off x="5257800" y="3273552"/>
            <a:ext cx="1783080" cy="475488"/>
          </a:xfrm>
          <a:prstGeom prst="roundRect">
            <a:avLst>
              <a:gd name="adj" fmla="val 19230"/>
            </a:avLst>
          </a:prstGeom>
          <a:solidFill>
            <a:srgbClr val="F8F0DE"/>
          </a:solidFill>
          <a:ln>
            <a:noFill/>
          </a:ln>
        </p:spPr>
        <p:txBody>
          <a:bodyPr rtlCol="0" anchor="ctr"/>
          <a:lstStyle/>
          <a:p>
            <a:pPr algn="ctr"/>
          </a:p>
        </p:txBody>
      </p:sp>
      <p:sp>
        <p:nvSpPr>
          <p:cNvPr id="30" name="TextBox 29"/>
          <p:cNvSpPr txBox="1"/>
          <p:nvPr/>
        </p:nvSpPr>
        <p:spPr>
          <a:xfrm>
            <a:off x="5349240" y="3273552"/>
            <a:ext cx="164592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Food, goods and jobs</a:t>
            </a:r>
          </a:p>
        </p:txBody>
      </p:sp>
      <p:cxnSp>
        <p:nvCxnSpPr>
          <p:cNvPr id="31" name="Connector 30"/>
          <p:cNvCxnSpPr/>
          <p:nvPr/>
        </p:nvCxnSpPr>
        <p:spPr>
          <a:xfrm>
            <a:off x="7059168" y="3511296"/>
            <a:ext cx="237744" cy="0"/>
          </a:xfrm>
          <a:prstGeom prst="line">
            <a:avLst/>
          </a:prstGeom>
          <a:ln w="19050">
            <a:solidFill>
              <a:srgbClr val="8F6516"/>
            </a:solidFill>
          </a:ln>
        </p:spPr>
      </p:cxnSp>
      <p:sp>
        <p:nvSpPr>
          <p:cNvPr id="32" name="Rounded Rectangle 31"/>
          <p:cNvSpPr/>
          <p:nvPr/>
        </p:nvSpPr>
        <p:spPr>
          <a:xfrm>
            <a:off x="7315200" y="3273552"/>
            <a:ext cx="1371600" cy="475488"/>
          </a:xfrm>
          <a:prstGeom prst="roundRect">
            <a:avLst>
              <a:gd name="adj" fmla="val 19230"/>
            </a:avLst>
          </a:prstGeom>
          <a:solidFill>
            <a:srgbClr val="8F6516"/>
          </a:solidFill>
          <a:ln>
            <a:noFill/>
          </a:ln>
        </p:spPr>
        <p:txBody>
          <a:bodyPr rtlCol="0" anchor="ctr"/>
          <a:lstStyle/>
          <a:p>
            <a:pPr algn="ctr"/>
          </a:p>
        </p:txBody>
      </p:sp>
      <p:sp>
        <p:nvSpPr>
          <p:cNvPr id="33" name="TextBox 32"/>
          <p:cNvSpPr txBox="1"/>
          <p:nvPr/>
        </p:nvSpPr>
        <p:spPr>
          <a:xfrm>
            <a:off x="7315200" y="3273552"/>
            <a:ext cx="1371600" cy="47548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Economy</a:t>
            </a:r>
          </a:p>
        </p:txBody>
      </p:sp>
      <p:sp>
        <p:nvSpPr>
          <p:cNvPr id="34" name="Rounded Rectangle 33"/>
          <p:cNvSpPr/>
          <p:nvPr/>
        </p:nvSpPr>
        <p:spPr>
          <a:xfrm>
            <a:off x="5257800" y="3931920"/>
            <a:ext cx="1783080" cy="475488"/>
          </a:xfrm>
          <a:prstGeom prst="roundRect">
            <a:avLst>
              <a:gd name="adj" fmla="val 19230"/>
            </a:avLst>
          </a:prstGeom>
          <a:solidFill>
            <a:srgbClr val="EEEAF4"/>
          </a:solidFill>
          <a:ln>
            <a:noFill/>
          </a:ln>
        </p:spPr>
        <p:txBody>
          <a:bodyPr rtlCol="0" anchor="ctr"/>
          <a:lstStyle/>
          <a:p>
            <a:pPr algn="ctr"/>
          </a:p>
        </p:txBody>
      </p:sp>
      <p:sp>
        <p:nvSpPr>
          <p:cNvPr id="35" name="TextBox 34"/>
          <p:cNvSpPr txBox="1"/>
          <p:nvPr/>
        </p:nvSpPr>
        <p:spPr>
          <a:xfrm>
            <a:off x="5349240" y="3931920"/>
            <a:ext cx="164592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Order and safety</a:t>
            </a:r>
          </a:p>
        </p:txBody>
      </p:sp>
      <p:cxnSp>
        <p:nvCxnSpPr>
          <p:cNvPr id="36" name="Connector 35"/>
          <p:cNvCxnSpPr/>
          <p:nvPr/>
        </p:nvCxnSpPr>
        <p:spPr>
          <a:xfrm>
            <a:off x="7059168" y="4169663"/>
            <a:ext cx="237744" cy="0"/>
          </a:xfrm>
          <a:prstGeom prst="line">
            <a:avLst/>
          </a:prstGeom>
          <a:ln w="19050">
            <a:solidFill>
              <a:srgbClr val="5E4785"/>
            </a:solidFill>
          </a:ln>
        </p:spPr>
      </p:cxnSp>
      <p:sp>
        <p:nvSpPr>
          <p:cNvPr id="37" name="Rounded Rectangle 36"/>
          <p:cNvSpPr/>
          <p:nvPr/>
        </p:nvSpPr>
        <p:spPr>
          <a:xfrm>
            <a:off x="7315200" y="3931920"/>
            <a:ext cx="1371600" cy="475488"/>
          </a:xfrm>
          <a:prstGeom prst="roundRect">
            <a:avLst>
              <a:gd name="adj" fmla="val 19230"/>
            </a:avLst>
          </a:prstGeom>
          <a:solidFill>
            <a:srgbClr val="5E4785"/>
          </a:solidFill>
          <a:ln>
            <a:noFill/>
          </a:ln>
        </p:spPr>
        <p:txBody>
          <a:bodyPr rtlCol="0" anchor="ctr"/>
          <a:lstStyle/>
          <a:p>
            <a:pPr algn="ctr"/>
          </a:p>
        </p:txBody>
      </p:sp>
      <p:sp>
        <p:nvSpPr>
          <p:cNvPr id="38" name="TextBox 37"/>
          <p:cNvSpPr txBox="1"/>
          <p:nvPr/>
        </p:nvSpPr>
        <p:spPr>
          <a:xfrm>
            <a:off x="7315200" y="3931920"/>
            <a:ext cx="1371600" cy="47548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Political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Definitions</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9B2"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5</a:t>
            </a:r>
          </a:p>
        </p:txBody>
      </p:sp>
      <p:sp>
        <p:nvSpPr>
          <p:cNvPr id="7" name="Rounded Rectangle 6"/>
          <p:cNvSpPr/>
          <p:nvPr/>
        </p:nvSpPr>
        <p:spPr>
          <a:xfrm>
            <a:off x="457200" y="960120"/>
            <a:ext cx="2606040" cy="1463040"/>
          </a:xfrm>
          <a:prstGeom prst="roundRect">
            <a:avLst>
              <a:gd name="adj" fmla="val 6153"/>
            </a:avLst>
          </a:prstGeom>
          <a:solidFill>
            <a:srgbClr val="E9F2F3"/>
          </a:solidFill>
          <a:ln>
            <a:noFill/>
          </a:ln>
        </p:spPr>
        <p:txBody>
          <a:bodyPr rtlCol="0" anchor="ctr"/>
          <a:lstStyle/>
          <a:p>
            <a:pPr algn="ctr"/>
          </a:p>
        </p:txBody>
      </p:sp>
      <p:sp>
        <p:nvSpPr>
          <p:cNvPr id="8" name="Oval 7"/>
          <p:cNvSpPr/>
          <p:nvPr/>
        </p:nvSpPr>
        <p:spPr>
          <a:xfrm>
            <a:off x="640080" y="1115568"/>
            <a:ext cx="365760" cy="365760"/>
          </a:xfrm>
          <a:prstGeom prst="ellipse">
            <a:avLst/>
          </a:prstGeom>
          <a:solidFill>
            <a:srgbClr val="1F6F78"/>
          </a:solidFill>
          <a:ln>
            <a:noFill/>
          </a:ln>
        </p:spPr>
        <p:txBody>
          <a:bodyPr rtlCol="0" anchor="ctr"/>
          <a:lstStyle/>
          <a:p>
            <a:pPr algn="ctr"/>
          </a:p>
        </p:txBody>
      </p:sp>
      <p:pic>
        <p:nvPicPr>
          <p:cNvPr id="9" name="Icon E9B2" descr="image.png"/>
          <p:cNvPicPr>
            <a:picLocks noChangeAspect="1"/>
          </p:cNvPicPr>
          <p:nvPr/>
        </p:nvPicPr>
        <p:blipFill>
          <a:blip r:embed="rId2"/>
          <a:stretch>
            <a:fillRect/>
          </a:stretch>
        </p:blipFill>
        <p:spPr>
          <a:xfrm>
            <a:off x="720547" y="1196035"/>
            <a:ext cx="204825" cy="204825"/>
          </a:xfrm>
          <a:prstGeom prst="rect">
            <a:avLst/>
          </a:prstGeom>
        </p:spPr>
      </p:pic>
      <p:sp>
        <p:nvSpPr>
          <p:cNvPr id="10" name="TextBox 9"/>
          <p:cNvSpPr txBox="1"/>
          <p:nvPr/>
        </p:nvSpPr>
        <p:spPr>
          <a:xfrm>
            <a:off x="1097280" y="1115568"/>
            <a:ext cx="1874519" cy="36576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Horton and Hunt (1984)</a:t>
            </a:r>
          </a:p>
        </p:txBody>
      </p:sp>
      <p:sp>
        <p:nvSpPr>
          <p:cNvPr id="11" name="TextBox 10"/>
          <p:cNvSpPr txBox="1"/>
          <p:nvPr/>
        </p:nvSpPr>
        <p:spPr>
          <a:xfrm>
            <a:off x="640080" y="1600200"/>
            <a:ext cx="2240280" cy="77724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1E2A30"/>
                </a:solidFill>
                <a:latin typeface="Times New Roman"/>
                <a:ea typeface="Times New Roman"/>
                <a:cs typeface="Times New Roman"/>
              </a:rPr>
              <a:t>“An organized system of social relationships which embodies certain common values and procedures and meets certain basic needs of society.”</a:t>
            </a:r>
          </a:p>
        </p:txBody>
      </p:sp>
      <p:sp>
        <p:nvSpPr>
          <p:cNvPr id="12" name="Rounded Rectangle 11"/>
          <p:cNvSpPr/>
          <p:nvPr/>
        </p:nvSpPr>
        <p:spPr>
          <a:xfrm>
            <a:off x="3268980" y="960120"/>
            <a:ext cx="2606040" cy="1463040"/>
          </a:xfrm>
          <a:prstGeom prst="roundRect">
            <a:avLst>
              <a:gd name="adj" fmla="val 6153"/>
            </a:avLst>
          </a:prstGeom>
          <a:solidFill>
            <a:srgbClr val="E9F2F3"/>
          </a:solidFill>
          <a:ln>
            <a:noFill/>
          </a:ln>
        </p:spPr>
        <p:txBody>
          <a:bodyPr rtlCol="0" anchor="ctr"/>
          <a:lstStyle/>
          <a:p>
            <a:pPr algn="ctr"/>
          </a:p>
        </p:txBody>
      </p:sp>
      <p:sp>
        <p:nvSpPr>
          <p:cNvPr id="13" name="Oval 12"/>
          <p:cNvSpPr/>
          <p:nvPr/>
        </p:nvSpPr>
        <p:spPr>
          <a:xfrm>
            <a:off x="3451860" y="1115568"/>
            <a:ext cx="365760" cy="365760"/>
          </a:xfrm>
          <a:prstGeom prst="ellipse">
            <a:avLst/>
          </a:prstGeom>
          <a:solidFill>
            <a:srgbClr val="1F6F78"/>
          </a:solidFill>
          <a:ln>
            <a:noFill/>
          </a:ln>
        </p:spPr>
        <p:txBody>
          <a:bodyPr rtlCol="0" anchor="ctr"/>
          <a:lstStyle/>
          <a:p>
            <a:pPr algn="ctr"/>
          </a:p>
        </p:txBody>
      </p:sp>
      <p:pic>
        <p:nvPicPr>
          <p:cNvPr id="14" name="Icon E9B2" descr="image.png"/>
          <p:cNvPicPr>
            <a:picLocks noChangeAspect="1"/>
          </p:cNvPicPr>
          <p:nvPr/>
        </p:nvPicPr>
        <p:blipFill>
          <a:blip r:embed="rId2"/>
          <a:stretch>
            <a:fillRect/>
          </a:stretch>
        </p:blipFill>
        <p:spPr>
          <a:xfrm>
            <a:off x="3532327" y="1196035"/>
            <a:ext cx="204825" cy="204825"/>
          </a:xfrm>
          <a:prstGeom prst="rect">
            <a:avLst/>
          </a:prstGeom>
        </p:spPr>
      </p:pic>
      <p:sp>
        <p:nvSpPr>
          <p:cNvPr id="15" name="TextBox 14"/>
          <p:cNvSpPr txBox="1"/>
          <p:nvPr/>
        </p:nvSpPr>
        <p:spPr>
          <a:xfrm>
            <a:off x="3909060" y="1115568"/>
            <a:ext cx="1874519" cy="36576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W. G. Sumner (1906)</a:t>
            </a:r>
          </a:p>
        </p:txBody>
      </p:sp>
      <p:sp>
        <p:nvSpPr>
          <p:cNvPr id="16" name="TextBox 15"/>
          <p:cNvSpPr txBox="1"/>
          <p:nvPr/>
        </p:nvSpPr>
        <p:spPr>
          <a:xfrm>
            <a:off x="3451860" y="1600200"/>
            <a:ext cx="2240280" cy="77724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1E2A30"/>
                </a:solidFill>
                <a:latin typeface="Times New Roman"/>
                <a:ea typeface="Times New Roman"/>
                <a:cs typeface="Times New Roman"/>
              </a:rPr>
              <a:t>“An institution consists of a concept (idea, notion, doctrine, interest) and a structure.”</a:t>
            </a:r>
          </a:p>
        </p:txBody>
      </p:sp>
      <p:sp>
        <p:nvSpPr>
          <p:cNvPr id="17" name="Rounded Rectangle 16"/>
          <p:cNvSpPr/>
          <p:nvPr/>
        </p:nvSpPr>
        <p:spPr>
          <a:xfrm>
            <a:off x="6080760" y="960120"/>
            <a:ext cx="2606040" cy="1463040"/>
          </a:xfrm>
          <a:prstGeom prst="roundRect">
            <a:avLst>
              <a:gd name="adj" fmla="val 6153"/>
            </a:avLst>
          </a:prstGeom>
          <a:solidFill>
            <a:srgbClr val="E9F2F3"/>
          </a:solidFill>
          <a:ln>
            <a:noFill/>
          </a:ln>
        </p:spPr>
        <p:txBody>
          <a:bodyPr rtlCol="0" anchor="ctr"/>
          <a:lstStyle/>
          <a:p>
            <a:pPr algn="ctr"/>
          </a:p>
        </p:txBody>
      </p:sp>
      <p:sp>
        <p:nvSpPr>
          <p:cNvPr id="18" name="Oval 17"/>
          <p:cNvSpPr/>
          <p:nvPr/>
        </p:nvSpPr>
        <p:spPr>
          <a:xfrm>
            <a:off x="6263640" y="1115568"/>
            <a:ext cx="365760" cy="365760"/>
          </a:xfrm>
          <a:prstGeom prst="ellipse">
            <a:avLst/>
          </a:prstGeom>
          <a:solidFill>
            <a:srgbClr val="1F6F78"/>
          </a:solidFill>
          <a:ln>
            <a:noFill/>
          </a:ln>
        </p:spPr>
        <p:txBody>
          <a:bodyPr rtlCol="0" anchor="ctr"/>
          <a:lstStyle/>
          <a:p>
            <a:pPr algn="ctr"/>
          </a:p>
        </p:txBody>
      </p:sp>
      <p:pic>
        <p:nvPicPr>
          <p:cNvPr id="19" name="Icon E9B2" descr="image.png"/>
          <p:cNvPicPr>
            <a:picLocks noChangeAspect="1"/>
          </p:cNvPicPr>
          <p:nvPr/>
        </p:nvPicPr>
        <p:blipFill>
          <a:blip r:embed="rId2"/>
          <a:stretch>
            <a:fillRect/>
          </a:stretch>
        </p:blipFill>
        <p:spPr>
          <a:xfrm>
            <a:off x="6344107" y="1196035"/>
            <a:ext cx="204825" cy="204825"/>
          </a:xfrm>
          <a:prstGeom prst="rect">
            <a:avLst/>
          </a:prstGeom>
        </p:spPr>
      </p:pic>
      <p:sp>
        <p:nvSpPr>
          <p:cNvPr id="20" name="TextBox 19"/>
          <p:cNvSpPr txBox="1"/>
          <p:nvPr/>
        </p:nvSpPr>
        <p:spPr>
          <a:xfrm>
            <a:off x="6720840" y="1115568"/>
            <a:ext cx="1874519" cy="36576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J. J. Macionis (2018)</a:t>
            </a:r>
          </a:p>
        </p:txBody>
      </p:sp>
      <p:sp>
        <p:nvSpPr>
          <p:cNvPr id="21" name="TextBox 20"/>
          <p:cNvSpPr txBox="1"/>
          <p:nvPr/>
        </p:nvSpPr>
        <p:spPr>
          <a:xfrm>
            <a:off x="6263640" y="1600200"/>
            <a:ext cx="2240280" cy="77724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1E2A30"/>
                </a:solidFill>
                <a:latin typeface="Times New Roman"/>
                <a:ea typeface="Times New Roman"/>
                <a:cs typeface="Times New Roman"/>
              </a:rPr>
              <a:t>Social institutions are “major spheres of social life, or societal subsystems, organized to meet human needs.”</a:t>
            </a:r>
          </a:p>
        </p:txBody>
      </p:sp>
      <p:sp>
        <p:nvSpPr>
          <p:cNvPr id="22" name="Rounded Rectangle 21"/>
          <p:cNvSpPr/>
          <p:nvPr/>
        </p:nvSpPr>
        <p:spPr>
          <a:xfrm>
            <a:off x="457200" y="2697480"/>
            <a:ext cx="8229600" cy="1554480"/>
          </a:xfrm>
          <a:prstGeom prst="roundRect">
            <a:avLst>
              <a:gd name="adj" fmla="val 7058"/>
            </a:avLst>
          </a:prstGeom>
          <a:solidFill>
            <a:srgbClr val="14323F"/>
          </a:solidFill>
          <a:ln>
            <a:noFill/>
          </a:ln>
        </p:spPr>
        <p:txBody>
          <a:bodyPr rtlCol="0" anchor="ctr"/>
          <a:lstStyle/>
          <a:p>
            <a:pPr algn="ctr"/>
          </a:p>
        </p:txBody>
      </p:sp>
      <p:sp>
        <p:nvSpPr>
          <p:cNvPr id="23" name="TextBox 22"/>
          <p:cNvSpPr txBox="1"/>
          <p:nvPr/>
        </p:nvSpPr>
        <p:spPr>
          <a:xfrm>
            <a:off x="685800" y="2816352"/>
            <a:ext cx="7772400" cy="566928"/>
          </a:xfrm>
          <a:prstGeom prst="rect">
            <a:avLst/>
          </a:prstGeom>
          <a:noFill/>
        </p:spPr>
        <p:txBody>
          <a:bodyPr wrap="square" lIns="0" rIns="0" tIns="0" bIns="0" anchor="t">
            <a:noAutofit/>
          </a:bodyPr>
          <a:lstStyle/>
          <a:p>
            <a:pPr algn="l" marL="0" indent="0">
              <a:lnSpc>
                <a:spcPct val="100000"/>
              </a:lnSpc>
              <a:spcBef>
                <a:spcPts val="0"/>
              </a:spcBef>
              <a:spcAft>
                <a:spcPts val="300"/>
              </a:spcAft>
              <a:buNone/>
            </a:pPr>
            <a:r>
              <a:rPr sz="1200" b="1" i="0">
                <a:solidFill>
                  <a:srgbClr val="E3A23B"/>
                </a:solidFill>
                <a:latin typeface="Times New Roman"/>
                <a:ea typeface="Times New Roman"/>
                <a:cs typeface="Times New Roman"/>
              </a:rPr>
              <a:t>In simple words</a:t>
            </a:r>
          </a:p>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A social institution is an established and lasting way in which a society organizes itself to meet one of its important needs.</a:t>
            </a:r>
          </a:p>
        </p:txBody>
      </p:sp>
      <p:sp>
        <p:nvSpPr>
          <p:cNvPr id="24" name="Rounded Rectangle 23"/>
          <p:cNvSpPr/>
          <p:nvPr/>
        </p:nvSpPr>
        <p:spPr>
          <a:xfrm>
            <a:off x="685800" y="3520440"/>
            <a:ext cx="2468880" cy="548640"/>
          </a:xfrm>
          <a:prstGeom prst="roundRect">
            <a:avLst>
              <a:gd name="adj" fmla="val 16666"/>
            </a:avLst>
          </a:prstGeom>
          <a:solidFill>
            <a:srgbClr val="1F4656"/>
          </a:solidFill>
          <a:ln>
            <a:noFill/>
          </a:ln>
        </p:spPr>
        <p:txBody>
          <a:bodyPr rtlCol="0" anchor="ctr"/>
          <a:lstStyle/>
          <a:p>
            <a:pPr algn="ctr"/>
          </a:p>
        </p:txBody>
      </p:sp>
      <p:sp>
        <p:nvSpPr>
          <p:cNvPr id="25" name="TextBox 24"/>
          <p:cNvSpPr txBox="1"/>
          <p:nvPr/>
        </p:nvSpPr>
        <p:spPr>
          <a:xfrm>
            <a:off x="822960" y="3520440"/>
            <a:ext cx="2240280" cy="54864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1" i="0">
                <a:solidFill>
                  <a:srgbClr val="E3A23B"/>
                </a:solidFill>
                <a:latin typeface="Times New Roman"/>
                <a:ea typeface="Times New Roman"/>
                <a:cs typeface="Times New Roman"/>
              </a:rPr>
              <a:t>Organized: </a:t>
            </a:r>
            <a:r>
              <a:rPr sz="1100" b="0" i="0">
                <a:solidFill>
                  <a:srgbClr val="FFFFFF"/>
                </a:solidFill>
                <a:latin typeface="Times New Roman"/>
                <a:ea typeface="Times New Roman"/>
                <a:cs typeface="Times New Roman"/>
              </a:rPr>
              <a:t>patterned roles and rules</a:t>
            </a:r>
          </a:p>
        </p:txBody>
      </p:sp>
      <p:sp>
        <p:nvSpPr>
          <p:cNvPr id="26" name="Rounded Rectangle 25"/>
          <p:cNvSpPr/>
          <p:nvPr/>
        </p:nvSpPr>
        <p:spPr>
          <a:xfrm>
            <a:off x="3337560" y="3520440"/>
            <a:ext cx="2468880" cy="548640"/>
          </a:xfrm>
          <a:prstGeom prst="roundRect">
            <a:avLst>
              <a:gd name="adj" fmla="val 16666"/>
            </a:avLst>
          </a:prstGeom>
          <a:solidFill>
            <a:srgbClr val="1F4656"/>
          </a:solidFill>
          <a:ln>
            <a:noFill/>
          </a:ln>
        </p:spPr>
        <p:txBody>
          <a:bodyPr rtlCol="0" anchor="ctr"/>
          <a:lstStyle/>
          <a:p>
            <a:pPr algn="ctr"/>
          </a:p>
        </p:txBody>
      </p:sp>
      <p:sp>
        <p:nvSpPr>
          <p:cNvPr id="27" name="TextBox 26"/>
          <p:cNvSpPr txBox="1"/>
          <p:nvPr/>
        </p:nvSpPr>
        <p:spPr>
          <a:xfrm>
            <a:off x="3474720" y="3520440"/>
            <a:ext cx="2240280" cy="54864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1" i="0">
                <a:solidFill>
                  <a:srgbClr val="E3A23B"/>
                </a:solidFill>
                <a:latin typeface="Times New Roman"/>
                <a:ea typeface="Times New Roman"/>
                <a:cs typeface="Times New Roman"/>
              </a:rPr>
              <a:t>Lasting: </a:t>
            </a:r>
            <a:r>
              <a:rPr sz="1100" b="0" i="0">
                <a:solidFill>
                  <a:srgbClr val="FFFFFF"/>
                </a:solidFill>
                <a:latin typeface="Times New Roman"/>
                <a:ea typeface="Times New Roman"/>
                <a:cs typeface="Times New Roman"/>
              </a:rPr>
              <a:t>stable across generations</a:t>
            </a:r>
          </a:p>
        </p:txBody>
      </p:sp>
      <p:sp>
        <p:nvSpPr>
          <p:cNvPr id="28" name="Rounded Rectangle 27"/>
          <p:cNvSpPr/>
          <p:nvPr/>
        </p:nvSpPr>
        <p:spPr>
          <a:xfrm>
            <a:off x="5989320" y="3520440"/>
            <a:ext cx="2468880" cy="548640"/>
          </a:xfrm>
          <a:prstGeom prst="roundRect">
            <a:avLst>
              <a:gd name="adj" fmla="val 16666"/>
            </a:avLst>
          </a:prstGeom>
          <a:solidFill>
            <a:srgbClr val="1F4656"/>
          </a:solidFill>
          <a:ln>
            <a:noFill/>
          </a:ln>
        </p:spPr>
        <p:txBody>
          <a:bodyPr rtlCol="0" anchor="ctr"/>
          <a:lstStyle/>
          <a:p>
            <a:pPr algn="ctr"/>
          </a:p>
        </p:txBody>
      </p:sp>
      <p:sp>
        <p:nvSpPr>
          <p:cNvPr id="29" name="TextBox 28"/>
          <p:cNvSpPr txBox="1"/>
          <p:nvPr/>
        </p:nvSpPr>
        <p:spPr>
          <a:xfrm>
            <a:off x="6126480" y="3520440"/>
            <a:ext cx="2240280" cy="54864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1" i="0">
                <a:solidFill>
                  <a:srgbClr val="E3A23B"/>
                </a:solidFill>
                <a:latin typeface="Times New Roman"/>
                <a:ea typeface="Times New Roman"/>
                <a:cs typeface="Times New Roman"/>
              </a:rPr>
              <a:t>Need-based: </a:t>
            </a:r>
            <a:r>
              <a:rPr sz="1100" b="0" i="0">
                <a:solidFill>
                  <a:srgbClr val="FFFFFF"/>
                </a:solidFill>
                <a:latin typeface="Times New Roman"/>
                <a:ea typeface="Times New Roman"/>
                <a:cs typeface="Times New Roman"/>
              </a:rPr>
              <a:t>meets a basic social need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Characteristics of Social Institutions</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81E"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6</a:t>
            </a:r>
          </a:p>
        </p:txBody>
      </p:sp>
      <p:sp>
        <p:nvSpPr>
          <p:cNvPr id="7" name="Rounded Rectangle 6"/>
          <p:cNvSpPr/>
          <p:nvPr/>
        </p:nvSpPr>
        <p:spPr>
          <a:xfrm>
            <a:off x="457200" y="960120"/>
            <a:ext cx="2606040" cy="1645920"/>
          </a:xfrm>
          <a:prstGeom prst="roundRect">
            <a:avLst>
              <a:gd name="adj" fmla="val 6666"/>
            </a:avLst>
          </a:prstGeom>
          <a:solidFill>
            <a:srgbClr val="E9F2F3"/>
          </a:solidFill>
          <a:ln>
            <a:noFill/>
          </a:ln>
        </p:spPr>
        <p:txBody>
          <a:bodyPr rtlCol="0" anchor="ctr"/>
          <a:lstStyle/>
          <a:p>
            <a:pPr algn="ctr"/>
          </a:p>
        </p:txBody>
      </p:sp>
      <p:sp>
        <p:nvSpPr>
          <p:cNvPr id="8" name="Oval 7"/>
          <p:cNvSpPr/>
          <p:nvPr/>
        </p:nvSpPr>
        <p:spPr>
          <a:xfrm>
            <a:off x="640080" y="1161288"/>
            <a:ext cx="457200" cy="457200"/>
          </a:xfrm>
          <a:prstGeom prst="ellipse">
            <a:avLst/>
          </a:prstGeom>
          <a:solidFill>
            <a:srgbClr val="1F6F78"/>
          </a:solidFill>
          <a:ln>
            <a:noFill/>
          </a:ln>
        </p:spPr>
        <p:txBody>
          <a:bodyPr rtlCol="0" anchor="ctr"/>
          <a:lstStyle/>
          <a:p>
            <a:pPr algn="ctr"/>
          </a:p>
        </p:txBody>
      </p:sp>
      <p:pic>
        <p:nvPicPr>
          <p:cNvPr id="9" name="Icon E909" descr="image.png"/>
          <p:cNvPicPr>
            <a:picLocks noChangeAspect="1"/>
          </p:cNvPicPr>
          <p:nvPr/>
        </p:nvPicPr>
        <p:blipFill>
          <a:blip r:embed="rId3"/>
          <a:stretch>
            <a:fillRect/>
          </a:stretch>
        </p:blipFill>
        <p:spPr>
          <a:xfrm>
            <a:off x="740664" y="1261872"/>
            <a:ext cx="256032" cy="256032"/>
          </a:xfrm>
          <a:prstGeom prst="rect">
            <a:avLst/>
          </a:prstGeom>
        </p:spPr>
      </p:pic>
      <p:sp>
        <p:nvSpPr>
          <p:cNvPr id="10" name="TextBox 9"/>
          <p:cNvSpPr txBox="1"/>
          <p:nvPr/>
        </p:nvSpPr>
        <p:spPr>
          <a:xfrm>
            <a:off x="1234440" y="1161288"/>
            <a:ext cx="1691640" cy="4572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Universal</a:t>
            </a:r>
          </a:p>
        </p:txBody>
      </p:sp>
      <p:sp>
        <p:nvSpPr>
          <p:cNvPr id="11" name="TextBox 10"/>
          <p:cNvSpPr txBox="1"/>
          <p:nvPr/>
        </p:nvSpPr>
        <p:spPr>
          <a:xfrm>
            <a:off x="640080" y="1764792"/>
            <a:ext cx="2240280" cy="7315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Found in every society, from small tribes to modern nation-states.</a:t>
            </a:r>
          </a:p>
        </p:txBody>
      </p:sp>
      <p:sp>
        <p:nvSpPr>
          <p:cNvPr id="12" name="Rounded Rectangle 11"/>
          <p:cNvSpPr/>
          <p:nvPr/>
        </p:nvSpPr>
        <p:spPr>
          <a:xfrm>
            <a:off x="3268980" y="960120"/>
            <a:ext cx="2606040" cy="1645920"/>
          </a:xfrm>
          <a:prstGeom prst="roundRect">
            <a:avLst>
              <a:gd name="adj" fmla="val 6666"/>
            </a:avLst>
          </a:prstGeom>
          <a:solidFill>
            <a:srgbClr val="E9F2F3"/>
          </a:solidFill>
          <a:ln>
            <a:noFill/>
          </a:ln>
        </p:spPr>
        <p:txBody>
          <a:bodyPr rtlCol="0" anchor="ctr"/>
          <a:lstStyle/>
          <a:p>
            <a:pPr algn="ctr"/>
          </a:p>
        </p:txBody>
      </p:sp>
      <p:sp>
        <p:nvSpPr>
          <p:cNvPr id="13" name="Oval 12"/>
          <p:cNvSpPr/>
          <p:nvPr/>
        </p:nvSpPr>
        <p:spPr>
          <a:xfrm>
            <a:off x="3451860" y="1161288"/>
            <a:ext cx="457200" cy="457200"/>
          </a:xfrm>
          <a:prstGeom prst="ellipse">
            <a:avLst/>
          </a:prstGeom>
          <a:solidFill>
            <a:srgbClr val="1F6F78"/>
          </a:solidFill>
          <a:ln>
            <a:noFill/>
          </a:ln>
        </p:spPr>
        <p:txBody>
          <a:bodyPr rtlCol="0" anchor="ctr"/>
          <a:lstStyle/>
          <a:p>
            <a:pPr algn="ctr"/>
          </a:p>
        </p:txBody>
      </p:sp>
      <p:pic>
        <p:nvPicPr>
          <p:cNvPr id="14" name="Icon EB51" descr="image.png"/>
          <p:cNvPicPr>
            <a:picLocks noChangeAspect="1"/>
          </p:cNvPicPr>
          <p:nvPr/>
        </p:nvPicPr>
        <p:blipFill>
          <a:blip r:embed="rId4"/>
          <a:stretch>
            <a:fillRect/>
          </a:stretch>
        </p:blipFill>
        <p:spPr>
          <a:xfrm>
            <a:off x="3552444" y="1261872"/>
            <a:ext cx="256032" cy="256032"/>
          </a:xfrm>
          <a:prstGeom prst="rect">
            <a:avLst/>
          </a:prstGeom>
        </p:spPr>
      </p:pic>
      <p:sp>
        <p:nvSpPr>
          <p:cNvPr id="15" name="TextBox 14"/>
          <p:cNvSpPr txBox="1"/>
          <p:nvPr/>
        </p:nvSpPr>
        <p:spPr>
          <a:xfrm>
            <a:off x="4046220" y="1161288"/>
            <a:ext cx="1691640" cy="4572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Fulfil basic needs</a:t>
            </a:r>
          </a:p>
        </p:txBody>
      </p:sp>
      <p:sp>
        <p:nvSpPr>
          <p:cNvPr id="16" name="TextBox 15"/>
          <p:cNvSpPr txBox="1"/>
          <p:nvPr/>
        </p:nvSpPr>
        <p:spPr>
          <a:xfrm>
            <a:off x="3451860" y="1764792"/>
            <a:ext cx="2240280" cy="7315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Each institution exists to satisfy a vital human or social need.</a:t>
            </a:r>
          </a:p>
        </p:txBody>
      </p:sp>
      <p:sp>
        <p:nvSpPr>
          <p:cNvPr id="17" name="Rounded Rectangle 16"/>
          <p:cNvSpPr/>
          <p:nvPr/>
        </p:nvSpPr>
        <p:spPr>
          <a:xfrm>
            <a:off x="6080760" y="960120"/>
            <a:ext cx="2606040" cy="1645920"/>
          </a:xfrm>
          <a:prstGeom prst="roundRect">
            <a:avLst>
              <a:gd name="adj" fmla="val 6666"/>
            </a:avLst>
          </a:prstGeom>
          <a:solidFill>
            <a:srgbClr val="E9F2F3"/>
          </a:solidFill>
          <a:ln>
            <a:noFill/>
          </a:ln>
        </p:spPr>
        <p:txBody>
          <a:bodyPr rtlCol="0" anchor="ctr"/>
          <a:lstStyle/>
          <a:p>
            <a:pPr algn="ctr"/>
          </a:p>
        </p:txBody>
      </p:sp>
      <p:sp>
        <p:nvSpPr>
          <p:cNvPr id="18" name="Oval 17"/>
          <p:cNvSpPr/>
          <p:nvPr/>
        </p:nvSpPr>
        <p:spPr>
          <a:xfrm>
            <a:off x="6263640" y="1161288"/>
            <a:ext cx="457200" cy="457200"/>
          </a:xfrm>
          <a:prstGeom prst="ellipse">
            <a:avLst/>
          </a:prstGeom>
          <a:solidFill>
            <a:srgbClr val="1F6F78"/>
          </a:solidFill>
          <a:ln>
            <a:noFill/>
          </a:ln>
        </p:spPr>
        <p:txBody>
          <a:bodyPr rtlCol="0" anchor="ctr"/>
          <a:lstStyle/>
          <a:p>
            <a:pPr algn="ctr"/>
          </a:p>
        </p:txBody>
      </p:sp>
      <p:pic>
        <p:nvPicPr>
          <p:cNvPr id="19" name="Icon E895" descr="image.png"/>
          <p:cNvPicPr>
            <a:picLocks noChangeAspect="1"/>
          </p:cNvPicPr>
          <p:nvPr/>
        </p:nvPicPr>
        <p:blipFill>
          <a:blip r:embed="rId5"/>
          <a:stretch>
            <a:fillRect/>
          </a:stretch>
        </p:blipFill>
        <p:spPr>
          <a:xfrm>
            <a:off x="6364224" y="1261872"/>
            <a:ext cx="256032" cy="256032"/>
          </a:xfrm>
          <a:prstGeom prst="rect">
            <a:avLst/>
          </a:prstGeom>
        </p:spPr>
      </p:pic>
      <p:sp>
        <p:nvSpPr>
          <p:cNvPr id="20" name="TextBox 19"/>
          <p:cNvSpPr txBox="1"/>
          <p:nvPr/>
        </p:nvSpPr>
        <p:spPr>
          <a:xfrm>
            <a:off x="6858000" y="1161288"/>
            <a:ext cx="1691640" cy="4572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Relatively permanent</a:t>
            </a:r>
          </a:p>
        </p:txBody>
      </p:sp>
      <p:sp>
        <p:nvSpPr>
          <p:cNvPr id="21" name="TextBox 20"/>
          <p:cNvSpPr txBox="1"/>
          <p:nvPr/>
        </p:nvSpPr>
        <p:spPr>
          <a:xfrm>
            <a:off x="6263640" y="1764792"/>
            <a:ext cx="2240280" cy="7315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They last for generations and change only slowly.</a:t>
            </a:r>
          </a:p>
        </p:txBody>
      </p:sp>
      <p:sp>
        <p:nvSpPr>
          <p:cNvPr id="22" name="Rounded Rectangle 21"/>
          <p:cNvSpPr/>
          <p:nvPr/>
        </p:nvSpPr>
        <p:spPr>
          <a:xfrm>
            <a:off x="457200" y="2834639"/>
            <a:ext cx="2606040" cy="1645920"/>
          </a:xfrm>
          <a:prstGeom prst="roundRect">
            <a:avLst>
              <a:gd name="adj" fmla="val 6666"/>
            </a:avLst>
          </a:prstGeom>
          <a:solidFill>
            <a:srgbClr val="E9F2F3"/>
          </a:solidFill>
          <a:ln>
            <a:noFill/>
          </a:ln>
        </p:spPr>
        <p:txBody>
          <a:bodyPr rtlCol="0" anchor="ctr"/>
          <a:lstStyle/>
          <a:p>
            <a:pPr algn="ctr"/>
          </a:p>
        </p:txBody>
      </p:sp>
      <p:sp>
        <p:nvSpPr>
          <p:cNvPr id="23" name="Oval 22"/>
          <p:cNvSpPr/>
          <p:nvPr/>
        </p:nvSpPr>
        <p:spPr>
          <a:xfrm>
            <a:off x="640080" y="3035808"/>
            <a:ext cx="457200" cy="457200"/>
          </a:xfrm>
          <a:prstGeom prst="ellipse">
            <a:avLst/>
          </a:prstGeom>
          <a:solidFill>
            <a:srgbClr val="1F6F78"/>
          </a:solidFill>
          <a:ln>
            <a:noFill/>
          </a:ln>
        </p:spPr>
        <p:txBody>
          <a:bodyPr rtlCol="0" anchor="ctr"/>
          <a:lstStyle/>
          <a:p>
            <a:pPr algn="ctr"/>
          </a:p>
        </p:txBody>
      </p:sp>
      <p:pic>
        <p:nvPicPr>
          <p:cNvPr id="24" name="Icon EA40" descr="image.png"/>
          <p:cNvPicPr>
            <a:picLocks noChangeAspect="1"/>
          </p:cNvPicPr>
          <p:nvPr/>
        </p:nvPicPr>
        <p:blipFill>
          <a:blip r:embed="rId6"/>
          <a:stretch>
            <a:fillRect/>
          </a:stretch>
        </p:blipFill>
        <p:spPr>
          <a:xfrm>
            <a:off x="740664" y="3136391"/>
            <a:ext cx="256032" cy="256032"/>
          </a:xfrm>
          <a:prstGeom prst="rect">
            <a:avLst/>
          </a:prstGeom>
        </p:spPr>
      </p:pic>
      <p:sp>
        <p:nvSpPr>
          <p:cNvPr id="25" name="TextBox 24"/>
          <p:cNvSpPr txBox="1"/>
          <p:nvPr/>
        </p:nvSpPr>
        <p:spPr>
          <a:xfrm>
            <a:off x="1234440" y="3035808"/>
            <a:ext cx="1691640" cy="4572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Norms and rules</a:t>
            </a:r>
          </a:p>
        </p:txBody>
      </p:sp>
      <p:sp>
        <p:nvSpPr>
          <p:cNvPr id="26" name="TextBox 25"/>
          <p:cNvSpPr txBox="1"/>
          <p:nvPr/>
        </p:nvSpPr>
        <p:spPr>
          <a:xfrm>
            <a:off x="640080" y="3639311"/>
            <a:ext cx="2240280" cy="7315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Each has its own customs, laws, roles and procedures.</a:t>
            </a:r>
          </a:p>
        </p:txBody>
      </p:sp>
      <p:sp>
        <p:nvSpPr>
          <p:cNvPr id="27" name="Rounded Rectangle 26"/>
          <p:cNvSpPr/>
          <p:nvPr/>
        </p:nvSpPr>
        <p:spPr>
          <a:xfrm>
            <a:off x="3268980" y="2834639"/>
            <a:ext cx="2606040" cy="1645920"/>
          </a:xfrm>
          <a:prstGeom prst="roundRect">
            <a:avLst>
              <a:gd name="adj" fmla="val 6666"/>
            </a:avLst>
          </a:prstGeom>
          <a:solidFill>
            <a:srgbClr val="E9F2F3"/>
          </a:solidFill>
          <a:ln>
            <a:noFill/>
          </a:ln>
        </p:spPr>
        <p:txBody>
          <a:bodyPr rtlCol="0" anchor="ctr"/>
          <a:lstStyle/>
          <a:p>
            <a:pPr algn="ctr"/>
          </a:p>
        </p:txBody>
      </p:sp>
      <p:sp>
        <p:nvSpPr>
          <p:cNvPr id="28" name="Oval 27"/>
          <p:cNvSpPr/>
          <p:nvPr/>
        </p:nvSpPr>
        <p:spPr>
          <a:xfrm>
            <a:off x="3451860" y="3035808"/>
            <a:ext cx="457200" cy="457200"/>
          </a:xfrm>
          <a:prstGeom prst="ellipse">
            <a:avLst/>
          </a:prstGeom>
          <a:solidFill>
            <a:srgbClr val="1F6F78"/>
          </a:solidFill>
          <a:ln>
            <a:noFill/>
          </a:ln>
        </p:spPr>
        <p:txBody>
          <a:bodyPr rtlCol="0" anchor="ctr"/>
          <a:lstStyle/>
          <a:p>
            <a:pPr algn="ctr"/>
          </a:p>
        </p:txBody>
      </p:sp>
      <p:pic>
        <p:nvPicPr>
          <p:cNvPr id="29" name="Icon E734" descr="image.png"/>
          <p:cNvPicPr>
            <a:picLocks noChangeAspect="1"/>
          </p:cNvPicPr>
          <p:nvPr/>
        </p:nvPicPr>
        <p:blipFill>
          <a:blip r:embed="rId7"/>
          <a:stretch>
            <a:fillRect/>
          </a:stretch>
        </p:blipFill>
        <p:spPr>
          <a:xfrm>
            <a:off x="3552444" y="3136391"/>
            <a:ext cx="256032" cy="256032"/>
          </a:xfrm>
          <a:prstGeom prst="rect">
            <a:avLst/>
          </a:prstGeom>
        </p:spPr>
      </p:pic>
      <p:sp>
        <p:nvSpPr>
          <p:cNvPr id="30" name="TextBox 29"/>
          <p:cNvSpPr txBox="1"/>
          <p:nvPr/>
        </p:nvSpPr>
        <p:spPr>
          <a:xfrm>
            <a:off x="4046220" y="3035808"/>
            <a:ext cx="1691640" cy="4572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Symbols</a:t>
            </a:r>
          </a:p>
        </p:txBody>
      </p:sp>
      <p:sp>
        <p:nvSpPr>
          <p:cNvPr id="31" name="TextBox 30"/>
          <p:cNvSpPr txBox="1"/>
          <p:nvPr/>
        </p:nvSpPr>
        <p:spPr>
          <a:xfrm>
            <a:off x="3451860" y="3639311"/>
            <a:ext cx="2240280" cy="7315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Shared symbols such as a wedding ring, a national flag or a school uniform.</a:t>
            </a:r>
          </a:p>
        </p:txBody>
      </p:sp>
      <p:sp>
        <p:nvSpPr>
          <p:cNvPr id="32" name="Rounded Rectangle 31"/>
          <p:cNvSpPr/>
          <p:nvPr/>
        </p:nvSpPr>
        <p:spPr>
          <a:xfrm>
            <a:off x="6080760" y="2834639"/>
            <a:ext cx="2606040" cy="1645920"/>
          </a:xfrm>
          <a:prstGeom prst="roundRect">
            <a:avLst>
              <a:gd name="adj" fmla="val 6666"/>
            </a:avLst>
          </a:prstGeom>
          <a:solidFill>
            <a:srgbClr val="E9F2F3"/>
          </a:solidFill>
          <a:ln>
            <a:noFill/>
          </a:ln>
        </p:spPr>
        <p:txBody>
          <a:bodyPr rtlCol="0" anchor="ctr"/>
          <a:lstStyle/>
          <a:p>
            <a:pPr algn="ctr"/>
          </a:p>
        </p:txBody>
      </p:sp>
      <p:sp>
        <p:nvSpPr>
          <p:cNvPr id="33" name="Oval 32"/>
          <p:cNvSpPr/>
          <p:nvPr/>
        </p:nvSpPr>
        <p:spPr>
          <a:xfrm>
            <a:off x="6263640" y="3035808"/>
            <a:ext cx="457200" cy="457200"/>
          </a:xfrm>
          <a:prstGeom prst="ellipse">
            <a:avLst/>
          </a:prstGeom>
          <a:solidFill>
            <a:srgbClr val="1F6F78"/>
          </a:solidFill>
          <a:ln>
            <a:noFill/>
          </a:ln>
        </p:spPr>
        <p:txBody>
          <a:bodyPr rtlCol="0" anchor="ctr"/>
          <a:lstStyle/>
          <a:p>
            <a:pPr algn="ctr"/>
          </a:p>
        </p:txBody>
      </p:sp>
      <p:pic>
        <p:nvPicPr>
          <p:cNvPr id="34" name="Icon E71B" descr="image.png"/>
          <p:cNvPicPr>
            <a:picLocks noChangeAspect="1"/>
          </p:cNvPicPr>
          <p:nvPr/>
        </p:nvPicPr>
        <p:blipFill>
          <a:blip r:embed="rId8"/>
          <a:stretch>
            <a:fillRect/>
          </a:stretch>
        </p:blipFill>
        <p:spPr>
          <a:xfrm>
            <a:off x="6364224" y="3136391"/>
            <a:ext cx="256032" cy="256032"/>
          </a:xfrm>
          <a:prstGeom prst="rect">
            <a:avLst/>
          </a:prstGeom>
        </p:spPr>
      </p:pic>
      <p:sp>
        <p:nvSpPr>
          <p:cNvPr id="35" name="TextBox 34"/>
          <p:cNvSpPr txBox="1"/>
          <p:nvPr/>
        </p:nvSpPr>
        <p:spPr>
          <a:xfrm>
            <a:off x="6858000" y="3035808"/>
            <a:ext cx="1691640" cy="45720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Interrelated</a:t>
            </a:r>
          </a:p>
        </p:txBody>
      </p:sp>
      <p:sp>
        <p:nvSpPr>
          <p:cNvPr id="36" name="TextBox 35"/>
          <p:cNvSpPr txBox="1"/>
          <p:nvPr/>
        </p:nvSpPr>
        <p:spPr>
          <a:xfrm>
            <a:off x="6263640" y="3639311"/>
            <a:ext cx="2240280" cy="7315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A change in one institution brings changes in the others.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Functions of Social Institutions</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713"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7</a:t>
            </a:r>
          </a:p>
        </p:txBody>
      </p:sp>
      <p:sp>
        <p:nvSpPr>
          <p:cNvPr id="7" name="Oval 6"/>
          <p:cNvSpPr/>
          <p:nvPr/>
        </p:nvSpPr>
        <p:spPr>
          <a:xfrm>
            <a:off x="457200" y="1024128"/>
            <a:ext cx="329184" cy="329184"/>
          </a:xfrm>
          <a:prstGeom prst="ellipse">
            <a:avLst/>
          </a:prstGeom>
          <a:solidFill>
            <a:srgbClr val="1F6F78"/>
          </a:solidFill>
          <a:ln>
            <a:noFill/>
          </a:ln>
        </p:spPr>
        <p:txBody>
          <a:bodyPr rtlCol="0" anchor="ctr"/>
          <a:lstStyle/>
          <a:p>
            <a:pPr algn="ctr"/>
          </a:p>
        </p:txBody>
      </p:sp>
      <p:sp>
        <p:nvSpPr>
          <p:cNvPr id="8" name="TextBox 7"/>
          <p:cNvSpPr txBox="1"/>
          <p:nvPr/>
        </p:nvSpPr>
        <p:spPr>
          <a:xfrm>
            <a:off x="457200" y="1024128"/>
            <a:ext cx="329184" cy="32918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1</a:t>
            </a:r>
          </a:p>
        </p:txBody>
      </p:sp>
      <p:sp>
        <p:nvSpPr>
          <p:cNvPr id="9" name="TextBox 8"/>
          <p:cNvSpPr txBox="1"/>
          <p:nvPr/>
        </p:nvSpPr>
        <p:spPr>
          <a:xfrm>
            <a:off x="914400" y="960120"/>
            <a:ext cx="434340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Satisfy basic needs</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Provide for reproduction, livelihood, learning and security.</a:t>
            </a:r>
          </a:p>
        </p:txBody>
      </p:sp>
      <p:sp>
        <p:nvSpPr>
          <p:cNvPr id="10" name="Oval 9"/>
          <p:cNvSpPr/>
          <p:nvPr/>
        </p:nvSpPr>
        <p:spPr>
          <a:xfrm>
            <a:off x="457200" y="1627632"/>
            <a:ext cx="329184" cy="329184"/>
          </a:xfrm>
          <a:prstGeom prst="ellipse">
            <a:avLst/>
          </a:prstGeom>
          <a:solidFill>
            <a:srgbClr val="1F6F78"/>
          </a:solidFill>
          <a:ln>
            <a:noFill/>
          </a:ln>
        </p:spPr>
        <p:txBody>
          <a:bodyPr rtlCol="0" anchor="ctr"/>
          <a:lstStyle/>
          <a:p>
            <a:pPr algn="ctr"/>
          </a:p>
        </p:txBody>
      </p:sp>
      <p:sp>
        <p:nvSpPr>
          <p:cNvPr id="11" name="TextBox 10"/>
          <p:cNvSpPr txBox="1"/>
          <p:nvPr/>
        </p:nvSpPr>
        <p:spPr>
          <a:xfrm>
            <a:off x="457200" y="1627632"/>
            <a:ext cx="329184" cy="32918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2</a:t>
            </a:r>
          </a:p>
        </p:txBody>
      </p:sp>
      <p:sp>
        <p:nvSpPr>
          <p:cNvPr id="12" name="TextBox 11"/>
          <p:cNvSpPr txBox="1"/>
          <p:nvPr/>
        </p:nvSpPr>
        <p:spPr>
          <a:xfrm>
            <a:off x="914400" y="1563624"/>
            <a:ext cx="434340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Socialization</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Teach members the values, norms and roles of society.</a:t>
            </a:r>
          </a:p>
        </p:txBody>
      </p:sp>
      <p:sp>
        <p:nvSpPr>
          <p:cNvPr id="13" name="Oval 12"/>
          <p:cNvSpPr/>
          <p:nvPr/>
        </p:nvSpPr>
        <p:spPr>
          <a:xfrm>
            <a:off x="457200" y="2231136"/>
            <a:ext cx="329184" cy="329184"/>
          </a:xfrm>
          <a:prstGeom prst="ellipse">
            <a:avLst/>
          </a:prstGeom>
          <a:solidFill>
            <a:srgbClr val="1F6F78"/>
          </a:solidFill>
          <a:ln>
            <a:noFill/>
          </a:ln>
        </p:spPr>
        <p:txBody>
          <a:bodyPr rtlCol="0" anchor="ctr"/>
          <a:lstStyle/>
          <a:p>
            <a:pPr algn="ctr"/>
          </a:p>
        </p:txBody>
      </p:sp>
      <p:sp>
        <p:nvSpPr>
          <p:cNvPr id="14" name="TextBox 13"/>
          <p:cNvSpPr txBox="1"/>
          <p:nvPr/>
        </p:nvSpPr>
        <p:spPr>
          <a:xfrm>
            <a:off x="457200" y="2231136"/>
            <a:ext cx="329184" cy="32918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3</a:t>
            </a:r>
          </a:p>
        </p:txBody>
      </p:sp>
      <p:sp>
        <p:nvSpPr>
          <p:cNvPr id="15" name="TextBox 14"/>
          <p:cNvSpPr txBox="1"/>
          <p:nvPr/>
        </p:nvSpPr>
        <p:spPr>
          <a:xfrm>
            <a:off x="914400" y="2167128"/>
            <a:ext cx="434340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Social control</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Guide behaviour through rules, rewards and punishments.</a:t>
            </a:r>
          </a:p>
        </p:txBody>
      </p:sp>
      <p:sp>
        <p:nvSpPr>
          <p:cNvPr id="16" name="Oval 15"/>
          <p:cNvSpPr/>
          <p:nvPr/>
        </p:nvSpPr>
        <p:spPr>
          <a:xfrm>
            <a:off x="457200" y="2834640"/>
            <a:ext cx="329184" cy="329184"/>
          </a:xfrm>
          <a:prstGeom prst="ellipse">
            <a:avLst/>
          </a:prstGeom>
          <a:solidFill>
            <a:srgbClr val="1F6F78"/>
          </a:solidFill>
          <a:ln>
            <a:noFill/>
          </a:ln>
        </p:spPr>
        <p:txBody>
          <a:bodyPr rtlCol="0" anchor="ctr"/>
          <a:lstStyle/>
          <a:p>
            <a:pPr algn="ctr"/>
          </a:p>
        </p:txBody>
      </p:sp>
      <p:sp>
        <p:nvSpPr>
          <p:cNvPr id="17" name="TextBox 16"/>
          <p:cNvSpPr txBox="1"/>
          <p:nvPr/>
        </p:nvSpPr>
        <p:spPr>
          <a:xfrm>
            <a:off x="457200" y="2834640"/>
            <a:ext cx="329184" cy="32918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4</a:t>
            </a:r>
          </a:p>
        </p:txBody>
      </p:sp>
      <p:sp>
        <p:nvSpPr>
          <p:cNvPr id="18" name="TextBox 17"/>
          <p:cNvSpPr txBox="1"/>
          <p:nvPr/>
        </p:nvSpPr>
        <p:spPr>
          <a:xfrm>
            <a:off x="914400" y="2770632"/>
            <a:ext cx="434340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Order and stability</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Give predictable patterns so that society runs smoothly.</a:t>
            </a:r>
          </a:p>
        </p:txBody>
      </p:sp>
      <p:sp>
        <p:nvSpPr>
          <p:cNvPr id="19" name="Oval 18"/>
          <p:cNvSpPr/>
          <p:nvPr/>
        </p:nvSpPr>
        <p:spPr>
          <a:xfrm>
            <a:off x="457200" y="3438144"/>
            <a:ext cx="329184" cy="329184"/>
          </a:xfrm>
          <a:prstGeom prst="ellipse">
            <a:avLst/>
          </a:prstGeom>
          <a:solidFill>
            <a:srgbClr val="1F6F78"/>
          </a:solidFill>
          <a:ln>
            <a:noFill/>
          </a:ln>
        </p:spPr>
        <p:txBody>
          <a:bodyPr rtlCol="0" anchor="ctr"/>
          <a:lstStyle/>
          <a:p>
            <a:pPr algn="ctr"/>
          </a:p>
        </p:txBody>
      </p:sp>
      <p:sp>
        <p:nvSpPr>
          <p:cNvPr id="20" name="TextBox 19"/>
          <p:cNvSpPr txBox="1"/>
          <p:nvPr/>
        </p:nvSpPr>
        <p:spPr>
          <a:xfrm>
            <a:off x="457200" y="3438144"/>
            <a:ext cx="329184" cy="32918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5</a:t>
            </a:r>
          </a:p>
        </p:txBody>
      </p:sp>
      <p:sp>
        <p:nvSpPr>
          <p:cNvPr id="21" name="TextBox 20"/>
          <p:cNvSpPr txBox="1"/>
          <p:nvPr/>
        </p:nvSpPr>
        <p:spPr>
          <a:xfrm>
            <a:off x="914400" y="3374136"/>
            <a:ext cx="434340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Roles and status</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Assign positions such as parent, teacher, worker and citizen.</a:t>
            </a:r>
          </a:p>
        </p:txBody>
      </p:sp>
      <p:sp>
        <p:nvSpPr>
          <p:cNvPr id="22" name="Oval 21"/>
          <p:cNvSpPr/>
          <p:nvPr/>
        </p:nvSpPr>
        <p:spPr>
          <a:xfrm>
            <a:off x="457200" y="4041648"/>
            <a:ext cx="329184" cy="329184"/>
          </a:xfrm>
          <a:prstGeom prst="ellipse">
            <a:avLst/>
          </a:prstGeom>
          <a:solidFill>
            <a:srgbClr val="1F6F78"/>
          </a:solidFill>
          <a:ln>
            <a:noFill/>
          </a:ln>
        </p:spPr>
        <p:txBody>
          <a:bodyPr rtlCol="0" anchor="ctr"/>
          <a:lstStyle/>
          <a:p>
            <a:pPr algn="ctr"/>
          </a:p>
        </p:txBody>
      </p:sp>
      <p:sp>
        <p:nvSpPr>
          <p:cNvPr id="23" name="TextBox 22"/>
          <p:cNvSpPr txBox="1"/>
          <p:nvPr/>
        </p:nvSpPr>
        <p:spPr>
          <a:xfrm>
            <a:off x="457200" y="4041648"/>
            <a:ext cx="329184" cy="32918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FFFFFF"/>
                </a:solidFill>
                <a:latin typeface="Times New Roman"/>
                <a:ea typeface="Times New Roman"/>
                <a:cs typeface="Times New Roman"/>
              </a:rPr>
              <a:t>6</a:t>
            </a:r>
          </a:p>
        </p:txBody>
      </p:sp>
      <p:sp>
        <p:nvSpPr>
          <p:cNvPr id="24" name="TextBox 23"/>
          <p:cNvSpPr txBox="1"/>
          <p:nvPr/>
        </p:nvSpPr>
        <p:spPr>
          <a:xfrm>
            <a:off x="914400" y="3977640"/>
            <a:ext cx="4343400" cy="475488"/>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Cultural transmission</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Pass culture and knowledge from one generation to the next.</a:t>
            </a:r>
          </a:p>
        </p:txBody>
      </p:sp>
      <p:sp>
        <p:nvSpPr>
          <p:cNvPr id="25" name="Rounded Rectangle 24"/>
          <p:cNvSpPr/>
          <p:nvPr/>
        </p:nvSpPr>
        <p:spPr>
          <a:xfrm>
            <a:off x="5532120" y="960120"/>
            <a:ext cx="3154680" cy="3566160"/>
          </a:xfrm>
          <a:prstGeom prst="roundRect">
            <a:avLst>
              <a:gd name="adj" fmla="val 3478"/>
            </a:avLst>
          </a:prstGeom>
          <a:solidFill>
            <a:srgbClr val="14323F"/>
          </a:solidFill>
          <a:ln>
            <a:noFill/>
          </a:ln>
        </p:spPr>
        <p:txBody>
          <a:bodyPr rtlCol="0" anchor="ctr"/>
          <a:lstStyle/>
          <a:p>
            <a:pPr algn="ctr"/>
          </a:p>
        </p:txBody>
      </p:sp>
      <p:sp>
        <p:nvSpPr>
          <p:cNvPr id="26" name="TextBox 25"/>
          <p:cNvSpPr txBox="1"/>
          <p:nvPr/>
        </p:nvSpPr>
        <p:spPr>
          <a:xfrm>
            <a:off x="5760720" y="1097280"/>
            <a:ext cx="2743200" cy="3337560"/>
          </a:xfrm>
          <a:prstGeom prst="rect">
            <a:avLst/>
          </a:prstGeom>
          <a:noFill/>
        </p:spPr>
        <p:txBody>
          <a:bodyPr wrap="square" lIns="0" rIns="0" tIns="0" bIns="0" anchor="ctr">
            <a:noAutofit/>
          </a:bodyPr>
          <a:lstStyle/>
          <a:p>
            <a:pPr algn="l" marL="0" indent="0">
              <a:lnSpc>
                <a:spcPct val="100000"/>
              </a:lnSpc>
              <a:spcBef>
                <a:spcPts val="0"/>
              </a:spcBef>
              <a:spcAft>
                <a:spcPts val="200"/>
              </a:spcAft>
              <a:buNone/>
            </a:pPr>
            <a:r>
              <a:rPr sz="1200" b="1" i="0">
                <a:solidFill>
                  <a:srgbClr val="E3A23B"/>
                </a:solidFill>
                <a:latin typeface="Times New Roman"/>
                <a:ea typeface="Times New Roman"/>
                <a:cs typeface="Times New Roman"/>
              </a:rPr>
              <a:t>Manifest and latent functions</a:t>
            </a:r>
          </a:p>
          <a:p>
            <a:pPr algn="l" marL="0" indent="0">
              <a:lnSpc>
                <a:spcPct val="100000"/>
              </a:lnSpc>
              <a:spcBef>
                <a:spcPts val="0"/>
              </a:spcBef>
              <a:spcAft>
                <a:spcPts val="1000"/>
              </a:spcAft>
              <a:buNone/>
            </a:pPr>
            <a:r>
              <a:rPr sz="1100" b="0" i="1">
                <a:solidFill>
                  <a:srgbClr val="C9DCE1"/>
                </a:solidFill>
                <a:latin typeface="Times New Roman"/>
                <a:ea typeface="Times New Roman"/>
                <a:cs typeface="Times New Roman"/>
              </a:rPr>
              <a:t>Robert K. Merton (1968)</a:t>
            </a:r>
          </a:p>
          <a:p>
            <a:pPr algn="l" marL="0" indent="0">
              <a:lnSpc>
                <a:spcPct val="100000"/>
              </a:lnSpc>
              <a:spcBef>
                <a:spcPts val="0"/>
              </a:spcBef>
              <a:spcAft>
                <a:spcPts val="200"/>
              </a:spcAft>
              <a:buNone/>
            </a:pPr>
            <a:r>
              <a:rPr sz="1200" b="1" i="0">
                <a:solidFill>
                  <a:srgbClr val="FFFFFF"/>
                </a:solidFill>
                <a:latin typeface="Times New Roman"/>
                <a:ea typeface="Times New Roman"/>
                <a:cs typeface="Times New Roman"/>
              </a:rPr>
              <a:t>Manifest functions</a:t>
            </a:r>
          </a:p>
          <a:p>
            <a:pPr algn="l" marL="0" indent="0">
              <a:lnSpc>
                <a:spcPct val="100000"/>
              </a:lnSpc>
              <a:spcBef>
                <a:spcPts val="0"/>
              </a:spcBef>
              <a:spcAft>
                <a:spcPts val="1000"/>
              </a:spcAft>
              <a:buNone/>
            </a:pPr>
            <a:r>
              <a:rPr sz="1100" b="0" i="0">
                <a:solidFill>
                  <a:srgbClr val="FFFFFF"/>
                </a:solidFill>
                <a:latin typeface="Times New Roman"/>
                <a:ea typeface="Times New Roman"/>
                <a:cs typeface="Times New Roman"/>
              </a:rPr>
              <a:t>Intended and openly recognized results. Example: schools teach reading, writing and mathematics.</a:t>
            </a:r>
          </a:p>
          <a:p>
            <a:pPr algn="l" marL="0" indent="0">
              <a:lnSpc>
                <a:spcPct val="100000"/>
              </a:lnSpc>
              <a:spcBef>
                <a:spcPts val="0"/>
              </a:spcBef>
              <a:spcAft>
                <a:spcPts val="200"/>
              </a:spcAft>
              <a:buNone/>
            </a:pPr>
            <a:r>
              <a:rPr sz="1200" b="1" i="0">
                <a:solidFill>
                  <a:srgbClr val="FFFFFF"/>
                </a:solidFill>
                <a:latin typeface="Times New Roman"/>
                <a:ea typeface="Times New Roman"/>
                <a:cs typeface="Times New Roman"/>
              </a:rPr>
              <a:t>Latent functions</a:t>
            </a:r>
          </a:p>
          <a:p>
            <a:pPr algn="l" marL="0" indent="0">
              <a:lnSpc>
                <a:spcPct val="100000"/>
              </a:lnSpc>
              <a:spcBef>
                <a:spcPts val="0"/>
              </a:spcBef>
              <a:spcAft>
                <a:spcPts val="1000"/>
              </a:spcAft>
              <a:buNone/>
            </a:pPr>
            <a:r>
              <a:rPr sz="1100" b="0" i="0">
                <a:solidFill>
                  <a:srgbClr val="FFFFFF"/>
                </a:solidFill>
                <a:latin typeface="Times New Roman"/>
                <a:ea typeface="Times New Roman"/>
                <a:cs typeface="Times New Roman"/>
              </a:rPr>
              <a:t>Unintended or hidden results. Example: schools also act as childcare and help young people make lifelong friends.</a:t>
            </a:r>
          </a:p>
          <a:p>
            <a:pPr algn="l" marL="0" indent="0">
              <a:lnSpc>
                <a:spcPct val="100000"/>
              </a:lnSpc>
              <a:spcBef>
                <a:spcPts val="0"/>
              </a:spcBef>
              <a:spcAft>
                <a:spcPts val="200"/>
              </a:spcAft>
              <a:buNone/>
            </a:pPr>
            <a:r>
              <a:rPr sz="1200" b="1" i="0">
                <a:solidFill>
                  <a:srgbClr val="FFFFFF"/>
                </a:solidFill>
                <a:latin typeface="Times New Roman"/>
                <a:ea typeface="Times New Roman"/>
                <a:cs typeface="Times New Roman"/>
              </a:rPr>
              <a:t>Dysfunctions</a:t>
            </a:r>
          </a:p>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Results that harm society. Example: an unequal school system can widen the gap between rich and poor.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Types of Social Institutions</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716"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8</a:t>
            </a:r>
          </a:p>
        </p:txBody>
      </p:sp>
      <p:sp>
        <p:nvSpPr>
          <p:cNvPr id="7" name="TextBox 6"/>
          <p:cNvSpPr txBox="1"/>
          <p:nvPr/>
        </p:nvSpPr>
        <p:spPr>
          <a:xfrm>
            <a:off x="457200" y="914400"/>
            <a:ext cx="822960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Sociologists identify five basic (primary) institutions found in every society:</a:t>
            </a:r>
          </a:p>
        </p:txBody>
      </p:sp>
      <p:sp>
        <p:nvSpPr>
          <p:cNvPr id="8" name="Rounded Rectangle 7"/>
          <p:cNvSpPr/>
          <p:nvPr/>
        </p:nvSpPr>
        <p:spPr>
          <a:xfrm>
            <a:off x="457200" y="1325880"/>
            <a:ext cx="1536192" cy="2331720"/>
          </a:xfrm>
          <a:prstGeom prst="roundRect">
            <a:avLst>
              <a:gd name="adj" fmla="val 7142"/>
            </a:avLst>
          </a:prstGeom>
          <a:solidFill>
            <a:srgbClr val="F8E9E5"/>
          </a:solidFill>
          <a:ln>
            <a:noFill/>
          </a:ln>
        </p:spPr>
        <p:txBody>
          <a:bodyPr rtlCol="0" anchor="ctr"/>
          <a:lstStyle/>
          <a:p>
            <a:pPr algn="ctr"/>
          </a:p>
        </p:txBody>
      </p:sp>
      <p:sp>
        <p:nvSpPr>
          <p:cNvPr id="9" name="Oval 8"/>
          <p:cNvSpPr/>
          <p:nvPr/>
        </p:nvSpPr>
        <p:spPr>
          <a:xfrm>
            <a:off x="813816" y="1536192"/>
            <a:ext cx="822960" cy="822960"/>
          </a:xfrm>
          <a:prstGeom prst="ellipse">
            <a:avLst/>
          </a:prstGeom>
          <a:solidFill>
            <a:srgbClr val="C2553F"/>
          </a:solidFill>
          <a:ln>
            <a:noFill/>
          </a:ln>
        </p:spPr>
        <p:txBody>
          <a:bodyPr rtlCol="0" anchor="ctr"/>
          <a:lstStyle/>
          <a:p>
            <a:pPr algn="ctr"/>
          </a:p>
        </p:txBody>
      </p:sp>
      <p:pic>
        <p:nvPicPr>
          <p:cNvPr id="10" name="Icon E902" descr="image.png"/>
          <p:cNvPicPr>
            <a:picLocks noChangeAspect="1"/>
          </p:cNvPicPr>
          <p:nvPr/>
        </p:nvPicPr>
        <p:blipFill>
          <a:blip r:embed="rId3"/>
          <a:stretch>
            <a:fillRect/>
          </a:stretch>
        </p:blipFill>
        <p:spPr>
          <a:xfrm>
            <a:off x="994867" y="1717243"/>
            <a:ext cx="460857" cy="460857"/>
          </a:xfrm>
          <a:prstGeom prst="rect">
            <a:avLst/>
          </a:prstGeom>
        </p:spPr>
      </p:pic>
      <p:sp>
        <p:nvSpPr>
          <p:cNvPr id="11" name="TextBox 10"/>
          <p:cNvSpPr txBox="1"/>
          <p:nvPr/>
        </p:nvSpPr>
        <p:spPr>
          <a:xfrm>
            <a:off x="548640" y="2514600"/>
            <a:ext cx="1353312" cy="27432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C2553F"/>
                </a:solidFill>
                <a:latin typeface="Times New Roman"/>
                <a:ea typeface="Times New Roman"/>
                <a:cs typeface="Times New Roman"/>
              </a:rPr>
              <a:t>Family</a:t>
            </a:r>
          </a:p>
        </p:txBody>
      </p:sp>
      <p:sp>
        <p:nvSpPr>
          <p:cNvPr id="12" name="TextBox 11"/>
          <p:cNvSpPr txBox="1"/>
          <p:nvPr/>
        </p:nvSpPr>
        <p:spPr>
          <a:xfrm>
            <a:off x="566928" y="2834640"/>
            <a:ext cx="1316736" cy="731520"/>
          </a:xfrm>
          <a:prstGeom prst="rect">
            <a:avLst/>
          </a:prstGeom>
          <a:noFill/>
        </p:spPr>
        <p:txBody>
          <a:bodyPr wrap="square" lIns="0" rIns="0" tIns="0" bIns="0" anchor="t">
            <a:noAutofit/>
          </a:bodyPr>
          <a:lstStyle/>
          <a:p>
            <a:pPr algn="ctr" marL="0" indent="0">
              <a:lnSpc>
                <a:spcPct val="100000"/>
              </a:lnSpc>
              <a:spcBef>
                <a:spcPts val="0"/>
              </a:spcBef>
              <a:spcAft>
                <a:spcPts val="0"/>
              </a:spcAft>
              <a:buNone/>
            </a:pPr>
            <a:r>
              <a:rPr sz="1100" b="0" i="0">
                <a:solidFill>
                  <a:srgbClr val="1E2A30"/>
                </a:solidFill>
                <a:latin typeface="Times New Roman"/>
                <a:ea typeface="Times New Roman"/>
                <a:cs typeface="Times New Roman"/>
              </a:rPr>
              <a:t>Reproduction, care and socialization of children</a:t>
            </a:r>
          </a:p>
        </p:txBody>
      </p:sp>
      <p:sp>
        <p:nvSpPr>
          <p:cNvPr id="13" name="Rounded Rectangle 12"/>
          <p:cNvSpPr/>
          <p:nvPr/>
        </p:nvSpPr>
        <p:spPr>
          <a:xfrm>
            <a:off x="2130552" y="1325880"/>
            <a:ext cx="1536192" cy="2331720"/>
          </a:xfrm>
          <a:prstGeom prst="roundRect">
            <a:avLst>
              <a:gd name="adj" fmla="val 7142"/>
            </a:avLst>
          </a:prstGeom>
          <a:solidFill>
            <a:srgbClr val="E5F0F5"/>
          </a:solidFill>
          <a:ln>
            <a:noFill/>
          </a:ln>
        </p:spPr>
        <p:txBody>
          <a:bodyPr rtlCol="0" anchor="ctr"/>
          <a:lstStyle/>
          <a:p>
            <a:pPr algn="ctr"/>
          </a:p>
        </p:txBody>
      </p:sp>
      <p:sp>
        <p:nvSpPr>
          <p:cNvPr id="14" name="Oval 13"/>
          <p:cNvSpPr/>
          <p:nvPr/>
        </p:nvSpPr>
        <p:spPr>
          <a:xfrm>
            <a:off x="2487168" y="1536192"/>
            <a:ext cx="822960" cy="822960"/>
          </a:xfrm>
          <a:prstGeom prst="ellipse">
            <a:avLst/>
          </a:prstGeom>
          <a:solidFill>
            <a:srgbClr val="2B6F8E"/>
          </a:solidFill>
          <a:ln>
            <a:noFill/>
          </a:ln>
        </p:spPr>
        <p:txBody>
          <a:bodyPr rtlCol="0" anchor="ctr"/>
          <a:lstStyle/>
          <a:p>
            <a:pPr algn="ctr"/>
          </a:p>
        </p:txBody>
      </p:sp>
      <p:pic>
        <p:nvPicPr>
          <p:cNvPr id="15" name="Icon E7BE" descr="image.png"/>
          <p:cNvPicPr>
            <a:picLocks noChangeAspect="1"/>
          </p:cNvPicPr>
          <p:nvPr/>
        </p:nvPicPr>
        <p:blipFill>
          <a:blip r:embed="rId4"/>
          <a:stretch>
            <a:fillRect/>
          </a:stretch>
        </p:blipFill>
        <p:spPr>
          <a:xfrm>
            <a:off x="2668219" y="1717243"/>
            <a:ext cx="460857" cy="460857"/>
          </a:xfrm>
          <a:prstGeom prst="rect">
            <a:avLst/>
          </a:prstGeom>
        </p:spPr>
      </p:pic>
      <p:sp>
        <p:nvSpPr>
          <p:cNvPr id="16" name="TextBox 15"/>
          <p:cNvSpPr txBox="1"/>
          <p:nvPr/>
        </p:nvSpPr>
        <p:spPr>
          <a:xfrm>
            <a:off x="2221992" y="2514600"/>
            <a:ext cx="1353312" cy="27432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2B6F8E"/>
                </a:solidFill>
                <a:latin typeface="Times New Roman"/>
                <a:ea typeface="Times New Roman"/>
                <a:cs typeface="Times New Roman"/>
              </a:rPr>
              <a:t>Education</a:t>
            </a:r>
          </a:p>
        </p:txBody>
      </p:sp>
      <p:sp>
        <p:nvSpPr>
          <p:cNvPr id="17" name="TextBox 16"/>
          <p:cNvSpPr txBox="1"/>
          <p:nvPr/>
        </p:nvSpPr>
        <p:spPr>
          <a:xfrm>
            <a:off x="2240280" y="2834640"/>
            <a:ext cx="1316736" cy="731520"/>
          </a:xfrm>
          <a:prstGeom prst="rect">
            <a:avLst/>
          </a:prstGeom>
          <a:noFill/>
        </p:spPr>
        <p:txBody>
          <a:bodyPr wrap="square" lIns="0" rIns="0" tIns="0" bIns="0" anchor="t">
            <a:noAutofit/>
          </a:bodyPr>
          <a:lstStyle/>
          <a:p>
            <a:pPr algn="ctr" marL="0" indent="0">
              <a:lnSpc>
                <a:spcPct val="100000"/>
              </a:lnSpc>
              <a:spcBef>
                <a:spcPts val="0"/>
              </a:spcBef>
              <a:spcAft>
                <a:spcPts val="0"/>
              </a:spcAft>
              <a:buNone/>
            </a:pPr>
            <a:r>
              <a:rPr sz="1100" b="0" i="0">
                <a:solidFill>
                  <a:srgbClr val="1E2A30"/>
                </a:solidFill>
                <a:latin typeface="Times New Roman"/>
                <a:ea typeface="Times New Roman"/>
                <a:cs typeface="Times New Roman"/>
              </a:rPr>
              <a:t>Transmission of knowledge, skills and culture</a:t>
            </a:r>
          </a:p>
        </p:txBody>
      </p:sp>
      <p:sp>
        <p:nvSpPr>
          <p:cNvPr id="18" name="Rounded Rectangle 17"/>
          <p:cNvSpPr/>
          <p:nvPr/>
        </p:nvSpPr>
        <p:spPr>
          <a:xfrm>
            <a:off x="3803904" y="1325880"/>
            <a:ext cx="1536192" cy="2331720"/>
          </a:xfrm>
          <a:prstGeom prst="roundRect">
            <a:avLst>
              <a:gd name="adj" fmla="val 7142"/>
            </a:avLst>
          </a:prstGeom>
          <a:solidFill>
            <a:srgbClr val="E7F2EA"/>
          </a:solidFill>
          <a:ln>
            <a:noFill/>
          </a:ln>
        </p:spPr>
        <p:txBody>
          <a:bodyPr rtlCol="0" anchor="ctr"/>
          <a:lstStyle/>
          <a:p>
            <a:pPr algn="ctr"/>
          </a:p>
        </p:txBody>
      </p:sp>
      <p:sp>
        <p:nvSpPr>
          <p:cNvPr id="19" name="Oval 18"/>
          <p:cNvSpPr/>
          <p:nvPr/>
        </p:nvSpPr>
        <p:spPr>
          <a:xfrm>
            <a:off x="4160520" y="1536192"/>
            <a:ext cx="822960" cy="822960"/>
          </a:xfrm>
          <a:prstGeom prst="ellipse">
            <a:avLst/>
          </a:prstGeom>
          <a:solidFill>
            <a:srgbClr val="3B7F52"/>
          </a:solidFill>
          <a:ln>
            <a:noFill/>
          </a:ln>
        </p:spPr>
        <p:txBody>
          <a:bodyPr rtlCol="0" anchor="ctr"/>
          <a:lstStyle/>
          <a:p>
            <a:pPr algn="ctr"/>
          </a:p>
        </p:txBody>
      </p:sp>
      <p:pic>
        <p:nvPicPr>
          <p:cNvPr id="20" name="Icon E708" descr="image.png"/>
          <p:cNvPicPr>
            <a:picLocks noChangeAspect="1"/>
          </p:cNvPicPr>
          <p:nvPr/>
        </p:nvPicPr>
        <p:blipFill>
          <a:blip r:embed="rId5"/>
          <a:stretch>
            <a:fillRect/>
          </a:stretch>
        </p:blipFill>
        <p:spPr>
          <a:xfrm>
            <a:off x="4341571" y="1717243"/>
            <a:ext cx="460857" cy="460857"/>
          </a:xfrm>
          <a:prstGeom prst="rect">
            <a:avLst/>
          </a:prstGeom>
        </p:spPr>
      </p:pic>
      <p:sp>
        <p:nvSpPr>
          <p:cNvPr id="21" name="TextBox 20"/>
          <p:cNvSpPr txBox="1"/>
          <p:nvPr/>
        </p:nvSpPr>
        <p:spPr>
          <a:xfrm>
            <a:off x="3895344" y="2514600"/>
            <a:ext cx="1353312" cy="27432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3B7F52"/>
                </a:solidFill>
                <a:latin typeface="Times New Roman"/>
                <a:ea typeface="Times New Roman"/>
                <a:cs typeface="Times New Roman"/>
              </a:rPr>
              <a:t>Religion</a:t>
            </a:r>
          </a:p>
        </p:txBody>
      </p:sp>
      <p:sp>
        <p:nvSpPr>
          <p:cNvPr id="22" name="TextBox 21"/>
          <p:cNvSpPr txBox="1"/>
          <p:nvPr/>
        </p:nvSpPr>
        <p:spPr>
          <a:xfrm>
            <a:off x="3913632" y="2834640"/>
            <a:ext cx="1316736" cy="731520"/>
          </a:xfrm>
          <a:prstGeom prst="rect">
            <a:avLst/>
          </a:prstGeom>
          <a:noFill/>
        </p:spPr>
        <p:txBody>
          <a:bodyPr wrap="square" lIns="0" rIns="0" tIns="0" bIns="0" anchor="t">
            <a:noAutofit/>
          </a:bodyPr>
          <a:lstStyle/>
          <a:p>
            <a:pPr algn="ctr" marL="0" indent="0">
              <a:lnSpc>
                <a:spcPct val="100000"/>
              </a:lnSpc>
              <a:spcBef>
                <a:spcPts val="0"/>
              </a:spcBef>
              <a:spcAft>
                <a:spcPts val="0"/>
              </a:spcAft>
              <a:buNone/>
            </a:pPr>
            <a:r>
              <a:rPr sz="1100" b="0" i="0">
                <a:solidFill>
                  <a:srgbClr val="1E2A30"/>
                </a:solidFill>
                <a:latin typeface="Times New Roman"/>
                <a:ea typeface="Times New Roman"/>
                <a:cs typeface="Times New Roman"/>
              </a:rPr>
              <a:t>Beliefs about the sacred; meaning and morality</a:t>
            </a:r>
          </a:p>
        </p:txBody>
      </p:sp>
      <p:sp>
        <p:nvSpPr>
          <p:cNvPr id="23" name="Rounded Rectangle 22"/>
          <p:cNvSpPr/>
          <p:nvPr/>
        </p:nvSpPr>
        <p:spPr>
          <a:xfrm>
            <a:off x="5477256" y="1325880"/>
            <a:ext cx="1536192" cy="2331720"/>
          </a:xfrm>
          <a:prstGeom prst="roundRect">
            <a:avLst>
              <a:gd name="adj" fmla="val 7142"/>
            </a:avLst>
          </a:prstGeom>
          <a:solidFill>
            <a:srgbClr val="F8F0DE"/>
          </a:solidFill>
          <a:ln>
            <a:noFill/>
          </a:ln>
        </p:spPr>
        <p:txBody>
          <a:bodyPr rtlCol="0" anchor="ctr"/>
          <a:lstStyle/>
          <a:p>
            <a:pPr algn="ctr"/>
          </a:p>
        </p:txBody>
      </p:sp>
      <p:sp>
        <p:nvSpPr>
          <p:cNvPr id="24" name="Oval 23"/>
          <p:cNvSpPr/>
          <p:nvPr/>
        </p:nvSpPr>
        <p:spPr>
          <a:xfrm>
            <a:off x="5833872" y="1536192"/>
            <a:ext cx="822960" cy="822960"/>
          </a:xfrm>
          <a:prstGeom prst="ellipse">
            <a:avLst/>
          </a:prstGeom>
          <a:solidFill>
            <a:srgbClr val="8F6516"/>
          </a:solidFill>
          <a:ln>
            <a:noFill/>
          </a:ln>
        </p:spPr>
        <p:txBody>
          <a:bodyPr rtlCol="0" anchor="ctr"/>
          <a:lstStyle/>
          <a:p>
            <a:pPr algn="ctr"/>
          </a:p>
        </p:txBody>
      </p:sp>
      <p:pic>
        <p:nvPicPr>
          <p:cNvPr id="25" name="Icon EAFC" descr="image.png"/>
          <p:cNvPicPr>
            <a:picLocks noChangeAspect="1"/>
          </p:cNvPicPr>
          <p:nvPr/>
        </p:nvPicPr>
        <p:blipFill>
          <a:blip r:embed="rId6"/>
          <a:stretch>
            <a:fillRect/>
          </a:stretch>
        </p:blipFill>
        <p:spPr>
          <a:xfrm>
            <a:off x="6014923" y="1717243"/>
            <a:ext cx="460857" cy="460857"/>
          </a:xfrm>
          <a:prstGeom prst="rect">
            <a:avLst/>
          </a:prstGeom>
        </p:spPr>
      </p:pic>
      <p:sp>
        <p:nvSpPr>
          <p:cNvPr id="26" name="TextBox 25"/>
          <p:cNvSpPr txBox="1"/>
          <p:nvPr/>
        </p:nvSpPr>
        <p:spPr>
          <a:xfrm>
            <a:off x="5568696" y="2514600"/>
            <a:ext cx="1353312" cy="27432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8F6516"/>
                </a:solidFill>
                <a:latin typeface="Times New Roman"/>
                <a:ea typeface="Times New Roman"/>
                <a:cs typeface="Times New Roman"/>
              </a:rPr>
              <a:t>Economy</a:t>
            </a:r>
          </a:p>
        </p:txBody>
      </p:sp>
      <p:sp>
        <p:nvSpPr>
          <p:cNvPr id="27" name="TextBox 26"/>
          <p:cNvSpPr txBox="1"/>
          <p:nvPr/>
        </p:nvSpPr>
        <p:spPr>
          <a:xfrm>
            <a:off x="5586984" y="2834640"/>
            <a:ext cx="1316736" cy="731520"/>
          </a:xfrm>
          <a:prstGeom prst="rect">
            <a:avLst/>
          </a:prstGeom>
          <a:noFill/>
        </p:spPr>
        <p:txBody>
          <a:bodyPr wrap="square" lIns="0" rIns="0" tIns="0" bIns="0" anchor="t">
            <a:noAutofit/>
          </a:bodyPr>
          <a:lstStyle/>
          <a:p>
            <a:pPr algn="ctr" marL="0" indent="0">
              <a:lnSpc>
                <a:spcPct val="100000"/>
              </a:lnSpc>
              <a:spcBef>
                <a:spcPts val="0"/>
              </a:spcBef>
              <a:spcAft>
                <a:spcPts val="0"/>
              </a:spcAft>
              <a:buNone/>
            </a:pPr>
            <a:r>
              <a:rPr sz="1100" b="0" i="0">
                <a:solidFill>
                  <a:srgbClr val="1E2A30"/>
                </a:solidFill>
                <a:latin typeface="Times New Roman"/>
                <a:ea typeface="Times New Roman"/>
                <a:cs typeface="Times New Roman"/>
              </a:rPr>
              <a:t>Production and distribution of goods and services</a:t>
            </a:r>
          </a:p>
        </p:txBody>
      </p:sp>
      <p:sp>
        <p:nvSpPr>
          <p:cNvPr id="28" name="Rounded Rectangle 27"/>
          <p:cNvSpPr/>
          <p:nvPr/>
        </p:nvSpPr>
        <p:spPr>
          <a:xfrm>
            <a:off x="7150608" y="1325880"/>
            <a:ext cx="1536192" cy="2331720"/>
          </a:xfrm>
          <a:prstGeom prst="roundRect">
            <a:avLst>
              <a:gd name="adj" fmla="val 7142"/>
            </a:avLst>
          </a:prstGeom>
          <a:solidFill>
            <a:srgbClr val="EEEAF4"/>
          </a:solidFill>
          <a:ln>
            <a:noFill/>
          </a:ln>
        </p:spPr>
        <p:txBody>
          <a:bodyPr rtlCol="0" anchor="ctr"/>
          <a:lstStyle/>
          <a:p>
            <a:pPr algn="ctr"/>
          </a:p>
        </p:txBody>
      </p:sp>
      <p:sp>
        <p:nvSpPr>
          <p:cNvPr id="29" name="Oval 28"/>
          <p:cNvSpPr/>
          <p:nvPr/>
        </p:nvSpPr>
        <p:spPr>
          <a:xfrm>
            <a:off x="7507224" y="1536192"/>
            <a:ext cx="822960" cy="822960"/>
          </a:xfrm>
          <a:prstGeom prst="ellipse">
            <a:avLst/>
          </a:prstGeom>
          <a:solidFill>
            <a:srgbClr val="5E4785"/>
          </a:solidFill>
          <a:ln>
            <a:noFill/>
          </a:ln>
        </p:spPr>
        <p:txBody>
          <a:bodyPr rtlCol="0" anchor="ctr"/>
          <a:lstStyle/>
          <a:p>
            <a:pPr algn="ctr"/>
          </a:p>
        </p:txBody>
      </p:sp>
      <p:pic>
        <p:nvPicPr>
          <p:cNvPr id="30" name="Icon E825" descr="image.png"/>
          <p:cNvPicPr>
            <a:picLocks noChangeAspect="1"/>
          </p:cNvPicPr>
          <p:nvPr/>
        </p:nvPicPr>
        <p:blipFill>
          <a:blip r:embed="rId7"/>
          <a:stretch>
            <a:fillRect/>
          </a:stretch>
        </p:blipFill>
        <p:spPr>
          <a:xfrm>
            <a:off x="7688275" y="1717243"/>
            <a:ext cx="460857" cy="460857"/>
          </a:xfrm>
          <a:prstGeom prst="rect">
            <a:avLst/>
          </a:prstGeom>
        </p:spPr>
      </p:pic>
      <p:sp>
        <p:nvSpPr>
          <p:cNvPr id="31" name="TextBox 30"/>
          <p:cNvSpPr txBox="1"/>
          <p:nvPr/>
        </p:nvSpPr>
        <p:spPr>
          <a:xfrm>
            <a:off x="7242048" y="2514600"/>
            <a:ext cx="1353312" cy="27432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5E4785"/>
                </a:solidFill>
                <a:latin typeface="Times New Roman"/>
                <a:ea typeface="Times New Roman"/>
                <a:cs typeface="Times New Roman"/>
              </a:rPr>
              <a:t>Political (State)</a:t>
            </a:r>
          </a:p>
        </p:txBody>
      </p:sp>
      <p:sp>
        <p:nvSpPr>
          <p:cNvPr id="32" name="TextBox 31"/>
          <p:cNvSpPr txBox="1"/>
          <p:nvPr/>
        </p:nvSpPr>
        <p:spPr>
          <a:xfrm>
            <a:off x="7260336" y="2834640"/>
            <a:ext cx="1316736" cy="731520"/>
          </a:xfrm>
          <a:prstGeom prst="rect">
            <a:avLst/>
          </a:prstGeom>
          <a:noFill/>
        </p:spPr>
        <p:txBody>
          <a:bodyPr wrap="square" lIns="0" rIns="0" tIns="0" bIns="0" anchor="t">
            <a:noAutofit/>
          </a:bodyPr>
          <a:lstStyle/>
          <a:p>
            <a:pPr algn="ctr" marL="0" indent="0">
              <a:lnSpc>
                <a:spcPct val="100000"/>
              </a:lnSpc>
              <a:spcBef>
                <a:spcPts val="0"/>
              </a:spcBef>
              <a:spcAft>
                <a:spcPts val="0"/>
              </a:spcAft>
              <a:buNone/>
            </a:pPr>
            <a:r>
              <a:rPr sz="1100" b="0" i="0">
                <a:solidFill>
                  <a:srgbClr val="1E2A30"/>
                </a:solidFill>
                <a:latin typeface="Times New Roman"/>
                <a:ea typeface="Times New Roman"/>
                <a:cs typeface="Times New Roman"/>
              </a:rPr>
              <a:t>Power, authority, law and order</a:t>
            </a:r>
          </a:p>
        </p:txBody>
      </p:sp>
      <p:sp>
        <p:nvSpPr>
          <p:cNvPr id="33" name="Rounded Rectangle 32"/>
          <p:cNvSpPr/>
          <p:nvPr/>
        </p:nvSpPr>
        <p:spPr>
          <a:xfrm>
            <a:off x="457200" y="3886200"/>
            <a:ext cx="8229600" cy="640080"/>
          </a:xfrm>
          <a:prstGeom prst="roundRect">
            <a:avLst>
              <a:gd name="adj" fmla="val 17142"/>
            </a:avLst>
          </a:prstGeom>
          <a:solidFill>
            <a:srgbClr val="E9F2F3"/>
          </a:solidFill>
          <a:ln>
            <a:noFill/>
          </a:ln>
        </p:spPr>
        <p:txBody>
          <a:bodyPr rtlCol="0" anchor="ctr"/>
          <a:lstStyle/>
          <a:p>
            <a:pPr algn="ctr"/>
          </a:p>
        </p:txBody>
      </p:sp>
      <p:sp>
        <p:nvSpPr>
          <p:cNvPr id="34" name="TextBox 33"/>
          <p:cNvSpPr txBox="1"/>
          <p:nvPr/>
        </p:nvSpPr>
        <p:spPr>
          <a:xfrm>
            <a:off x="640080" y="3886200"/>
            <a:ext cx="7863840" cy="640080"/>
          </a:xfrm>
          <a:prstGeom prst="rect">
            <a:avLst/>
          </a:prstGeom>
          <a:noFill/>
        </p:spPr>
        <p:txBody>
          <a:bodyPr wrap="square" lIns="0" rIns="0" tIns="0" bIns="0" anchor="ctr">
            <a:noAutofit/>
          </a:bodyPr>
          <a:lstStyle/>
          <a:p>
            <a:pPr algn="l" marL="0" indent="0">
              <a:lnSpc>
                <a:spcPct val="100000"/>
              </a:lnSpc>
              <a:spcBef>
                <a:spcPts val="0"/>
              </a:spcBef>
              <a:spcAft>
                <a:spcPts val="0"/>
              </a:spcAft>
              <a:buNone/>
            </a:pPr>
            <a:r>
              <a:rPr sz="1100" b="1" i="0">
                <a:solidFill>
                  <a:srgbClr val="1F6F78"/>
                </a:solidFill>
                <a:latin typeface="Times New Roman"/>
                <a:ea typeface="Times New Roman"/>
                <a:cs typeface="Times New Roman"/>
              </a:rPr>
              <a:t>Other institutions: </a:t>
            </a:r>
            <a:r>
              <a:rPr sz="1100" b="0" i="0">
                <a:solidFill>
                  <a:srgbClr val="1E2A30"/>
                </a:solidFill>
                <a:latin typeface="Times New Roman"/>
                <a:ea typeface="Times New Roman"/>
                <a:cs typeface="Times New Roman"/>
              </a:rPr>
              <a:t>health care (medicine), mass media, and sport and recreation are also treated as institutions in modern societies.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Family</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902"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9</a:t>
            </a:r>
          </a:p>
        </p:txBody>
      </p:sp>
      <p:sp>
        <p:nvSpPr>
          <p:cNvPr id="7" name="Rounded Rectangle 6"/>
          <p:cNvSpPr/>
          <p:nvPr/>
        </p:nvSpPr>
        <p:spPr>
          <a:xfrm>
            <a:off x="457200" y="960120"/>
            <a:ext cx="2651760" cy="3566160"/>
          </a:xfrm>
          <a:prstGeom prst="roundRect">
            <a:avLst>
              <a:gd name="adj" fmla="val 4827"/>
            </a:avLst>
          </a:prstGeom>
          <a:solidFill>
            <a:srgbClr val="C2553F"/>
          </a:solidFill>
          <a:ln>
            <a:noFill/>
          </a:ln>
        </p:spPr>
        <p:txBody>
          <a:bodyPr rtlCol="0" anchor="ctr"/>
          <a:lstStyle/>
          <a:p>
            <a:pPr algn="ctr"/>
          </a:p>
        </p:txBody>
      </p:sp>
      <p:sp>
        <p:nvSpPr>
          <p:cNvPr id="8" name="Oval 7"/>
          <p:cNvSpPr/>
          <p:nvPr/>
        </p:nvSpPr>
        <p:spPr>
          <a:xfrm>
            <a:off x="685800" y="1188720"/>
            <a:ext cx="822960" cy="822960"/>
          </a:xfrm>
          <a:prstGeom prst="ellipse">
            <a:avLst/>
          </a:prstGeom>
          <a:solidFill>
            <a:srgbClr val="FFFFFF"/>
          </a:solidFill>
          <a:ln>
            <a:noFill/>
          </a:ln>
        </p:spPr>
        <p:txBody>
          <a:bodyPr rtlCol="0" anchor="ctr"/>
          <a:lstStyle/>
          <a:p>
            <a:pPr algn="ctr"/>
          </a:p>
        </p:txBody>
      </p:sp>
      <p:pic>
        <p:nvPicPr>
          <p:cNvPr id="9" name="Icon E902" descr="image.png"/>
          <p:cNvPicPr>
            <a:picLocks noChangeAspect="1"/>
          </p:cNvPicPr>
          <p:nvPr/>
        </p:nvPicPr>
        <p:blipFill>
          <a:blip r:embed="rId3"/>
          <a:stretch>
            <a:fillRect/>
          </a:stretch>
        </p:blipFill>
        <p:spPr>
          <a:xfrm>
            <a:off x="868680" y="1371600"/>
            <a:ext cx="457200" cy="457200"/>
          </a:xfrm>
          <a:prstGeom prst="rect">
            <a:avLst/>
          </a:prstGeom>
        </p:spPr>
      </p:pic>
      <p:sp>
        <p:nvSpPr>
          <p:cNvPr id="10" name="TextBox 9"/>
          <p:cNvSpPr txBox="1"/>
          <p:nvPr/>
        </p:nvSpPr>
        <p:spPr>
          <a:xfrm>
            <a:off x="685800" y="2176272"/>
            <a:ext cx="2194560" cy="2926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200" b="1" i="0">
                <a:solidFill>
                  <a:srgbClr val="FFFFFF"/>
                </a:solidFill>
                <a:latin typeface="Times New Roman"/>
                <a:ea typeface="Times New Roman"/>
                <a:cs typeface="Times New Roman"/>
              </a:rPr>
              <a:t>Family</a:t>
            </a:r>
          </a:p>
        </p:txBody>
      </p:sp>
      <p:sp>
        <p:nvSpPr>
          <p:cNvPr id="11" name="TextBox 10"/>
          <p:cNvSpPr txBox="1"/>
          <p:nvPr/>
        </p:nvSpPr>
        <p:spPr>
          <a:xfrm>
            <a:off x="685800" y="2487168"/>
            <a:ext cx="2240280" cy="16002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A social group characterized by common residence, economic cooperation and reproduction.</a:t>
            </a:r>
          </a:p>
        </p:txBody>
      </p:sp>
      <p:sp>
        <p:nvSpPr>
          <p:cNvPr id="12" name="TextBox 11"/>
          <p:cNvSpPr txBox="1"/>
          <p:nvPr/>
        </p:nvSpPr>
        <p:spPr>
          <a:xfrm>
            <a:off x="685800" y="4114800"/>
            <a:ext cx="224028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FFFFFF"/>
                </a:solidFill>
                <a:latin typeface="Times New Roman"/>
                <a:ea typeface="Times New Roman"/>
                <a:cs typeface="Times New Roman"/>
              </a:rPr>
              <a:t>Based on Murdock (1949)</a:t>
            </a:r>
          </a:p>
        </p:txBody>
      </p:sp>
      <p:sp>
        <p:nvSpPr>
          <p:cNvPr id="13" name="Rounded Rectangle 12"/>
          <p:cNvSpPr/>
          <p:nvPr/>
        </p:nvSpPr>
        <p:spPr>
          <a:xfrm>
            <a:off x="3383280" y="960120"/>
            <a:ext cx="2583180" cy="2240280"/>
          </a:xfrm>
          <a:prstGeom prst="roundRect">
            <a:avLst>
              <a:gd name="adj" fmla="val 4897"/>
            </a:avLst>
          </a:prstGeom>
          <a:solidFill>
            <a:srgbClr val="F8E9E5"/>
          </a:solidFill>
          <a:ln>
            <a:noFill/>
          </a:ln>
        </p:spPr>
        <p:txBody>
          <a:bodyPr rtlCol="0" anchor="ctr"/>
          <a:lstStyle/>
          <a:p>
            <a:pPr algn="ctr"/>
          </a:p>
        </p:txBody>
      </p:sp>
      <p:sp>
        <p:nvSpPr>
          <p:cNvPr id="14" name="TextBox 13"/>
          <p:cNvSpPr txBox="1"/>
          <p:nvPr/>
        </p:nvSpPr>
        <p:spPr>
          <a:xfrm>
            <a:off x="356616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C2553F"/>
                </a:solidFill>
                <a:latin typeface="Times New Roman"/>
                <a:ea typeface="Times New Roman"/>
                <a:cs typeface="Times New Roman"/>
              </a:rPr>
              <a:t>Functions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Reproduction of new members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Socialization of children</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Love, care and emotional support</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Economic cooperation</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Giving status and identity</a:t>
            </a:r>
          </a:p>
        </p:txBody>
      </p:sp>
      <p:sp>
        <p:nvSpPr>
          <p:cNvPr id="15" name="Rounded Rectangle 14"/>
          <p:cNvSpPr/>
          <p:nvPr/>
        </p:nvSpPr>
        <p:spPr>
          <a:xfrm>
            <a:off x="6103620" y="960120"/>
            <a:ext cx="2583180" cy="2240280"/>
          </a:xfrm>
          <a:prstGeom prst="roundRect">
            <a:avLst>
              <a:gd name="adj" fmla="val 4897"/>
            </a:avLst>
          </a:prstGeom>
          <a:solidFill>
            <a:srgbClr val="F8E9E5"/>
          </a:solidFill>
          <a:ln>
            <a:noFill/>
          </a:ln>
        </p:spPr>
        <p:txBody>
          <a:bodyPr rtlCol="0" anchor="ctr"/>
          <a:lstStyle/>
          <a:p>
            <a:pPr algn="ctr"/>
          </a:p>
        </p:txBody>
      </p:sp>
      <p:sp>
        <p:nvSpPr>
          <p:cNvPr id="16" name="TextBox 15"/>
          <p:cNvSpPr txBox="1"/>
          <p:nvPr/>
        </p:nvSpPr>
        <p:spPr>
          <a:xfrm>
            <a:off x="628650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C2553F"/>
                </a:solidFill>
                <a:latin typeface="Times New Roman"/>
                <a:ea typeface="Times New Roman"/>
                <a:cs typeface="Times New Roman"/>
              </a:rPr>
              <a:t>Types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Nuclear family: parents and their children</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Joint / extended family: several generations together</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By authority: patriarchal or matriarchal</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By residence: patrilocal or matrilocal</a:t>
            </a:r>
          </a:p>
        </p:txBody>
      </p:sp>
      <p:sp>
        <p:nvSpPr>
          <p:cNvPr id="17" name="Rounded Rectangle 16"/>
          <p:cNvSpPr/>
          <p:nvPr/>
        </p:nvSpPr>
        <p:spPr>
          <a:xfrm>
            <a:off x="3383280" y="3383280"/>
            <a:ext cx="5303520" cy="1143000"/>
          </a:xfrm>
          <a:prstGeom prst="roundRect">
            <a:avLst>
              <a:gd name="adj" fmla="val 9600"/>
            </a:avLst>
          </a:prstGeom>
          <a:solidFill>
            <a:srgbClr val="E9F2F3"/>
          </a:solidFill>
          <a:ln>
            <a:noFill/>
          </a:ln>
        </p:spPr>
        <p:txBody>
          <a:bodyPr rtlCol="0" anchor="ctr"/>
          <a:lstStyle/>
          <a:p>
            <a:pPr algn="ctr"/>
          </a:p>
        </p:txBody>
      </p:sp>
      <p:sp>
        <p:nvSpPr>
          <p:cNvPr id="18" name="Oval 17"/>
          <p:cNvSpPr/>
          <p:nvPr/>
        </p:nvSpPr>
        <p:spPr>
          <a:xfrm>
            <a:off x="3566160" y="3703320"/>
            <a:ext cx="502920" cy="502920"/>
          </a:xfrm>
          <a:prstGeom prst="ellipse">
            <a:avLst/>
          </a:prstGeom>
          <a:solidFill>
            <a:srgbClr val="E3A23B"/>
          </a:solidFill>
          <a:ln>
            <a:noFill/>
          </a:ln>
        </p:spPr>
        <p:txBody>
          <a:bodyPr rtlCol="0" anchor="ctr"/>
          <a:lstStyle/>
          <a:p>
            <a:pPr algn="ctr"/>
          </a:p>
        </p:txBody>
      </p:sp>
      <p:pic>
        <p:nvPicPr>
          <p:cNvPr id="19" name="Icon EA80" descr="image.png"/>
          <p:cNvPicPr>
            <a:picLocks noChangeAspect="1"/>
          </p:cNvPicPr>
          <p:nvPr/>
        </p:nvPicPr>
        <p:blipFill>
          <a:blip r:embed="rId4"/>
          <a:stretch>
            <a:fillRect/>
          </a:stretch>
        </p:blipFill>
        <p:spPr>
          <a:xfrm>
            <a:off x="3676802" y="3813962"/>
            <a:ext cx="281635" cy="281635"/>
          </a:xfrm>
          <a:prstGeom prst="rect">
            <a:avLst/>
          </a:prstGeom>
        </p:spPr>
      </p:pic>
      <p:sp>
        <p:nvSpPr>
          <p:cNvPr id="20" name="TextBox 19"/>
          <p:cNvSpPr txBox="1"/>
          <p:nvPr/>
        </p:nvSpPr>
        <p:spPr>
          <a:xfrm>
            <a:off x="4251960" y="3383280"/>
            <a:ext cx="4297680" cy="1143000"/>
          </a:xfrm>
          <a:prstGeom prst="rect">
            <a:avLst/>
          </a:prstGeom>
          <a:noFill/>
        </p:spPr>
        <p:txBody>
          <a:bodyPr wrap="square" lIns="0" rIns="0" tIns="0" bIns="0" anchor="ctr">
            <a:noAutofit/>
          </a:bodyPr>
          <a:lstStyle/>
          <a:p>
            <a:pPr algn="l" marL="0" indent="0">
              <a:lnSpc>
                <a:spcPct val="100000"/>
              </a:lnSpc>
              <a:spcBef>
                <a:spcPts val="0"/>
              </a:spcBef>
              <a:spcAft>
                <a:spcPts val="300"/>
              </a:spcAft>
              <a:buNone/>
            </a:pPr>
            <a:r>
              <a:rPr sz="1200" b="1" i="0">
                <a:solidFill>
                  <a:srgbClr val="14323F"/>
                </a:solidFill>
                <a:latin typeface="Times New Roman"/>
                <a:ea typeface="Times New Roman"/>
                <a:cs typeface="Times New Roman"/>
              </a:rPr>
              <a:t>Key idea</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Family of orientation is the family we are born into; family of procreation is the family we create through marriage.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Education</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7BE"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10</a:t>
            </a:r>
          </a:p>
        </p:txBody>
      </p:sp>
      <p:sp>
        <p:nvSpPr>
          <p:cNvPr id="7" name="Rounded Rectangle 6"/>
          <p:cNvSpPr/>
          <p:nvPr/>
        </p:nvSpPr>
        <p:spPr>
          <a:xfrm>
            <a:off x="457200" y="960120"/>
            <a:ext cx="2651760" cy="3566160"/>
          </a:xfrm>
          <a:prstGeom prst="roundRect">
            <a:avLst>
              <a:gd name="adj" fmla="val 4827"/>
            </a:avLst>
          </a:prstGeom>
          <a:solidFill>
            <a:srgbClr val="2B6F8E"/>
          </a:solidFill>
          <a:ln>
            <a:noFill/>
          </a:ln>
        </p:spPr>
        <p:txBody>
          <a:bodyPr rtlCol="0" anchor="ctr"/>
          <a:lstStyle/>
          <a:p>
            <a:pPr algn="ctr"/>
          </a:p>
        </p:txBody>
      </p:sp>
      <p:sp>
        <p:nvSpPr>
          <p:cNvPr id="8" name="Oval 7"/>
          <p:cNvSpPr/>
          <p:nvPr/>
        </p:nvSpPr>
        <p:spPr>
          <a:xfrm>
            <a:off x="685800" y="1188720"/>
            <a:ext cx="822960" cy="822960"/>
          </a:xfrm>
          <a:prstGeom prst="ellipse">
            <a:avLst/>
          </a:prstGeom>
          <a:solidFill>
            <a:srgbClr val="FFFFFF"/>
          </a:solidFill>
          <a:ln>
            <a:noFill/>
          </a:ln>
        </p:spPr>
        <p:txBody>
          <a:bodyPr rtlCol="0" anchor="ctr"/>
          <a:lstStyle/>
          <a:p>
            <a:pPr algn="ctr"/>
          </a:p>
        </p:txBody>
      </p:sp>
      <p:pic>
        <p:nvPicPr>
          <p:cNvPr id="9" name="Icon E7BE" descr="image.png"/>
          <p:cNvPicPr>
            <a:picLocks noChangeAspect="1"/>
          </p:cNvPicPr>
          <p:nvPr/>
        </p:nvPicPr>
        <p:blipFill>
          <a:blip r:embed="rId3"/>
          <a:stretch>
            <a:fillRect/>
          </a:stretch>
        </p:blipFill>
        <p:spPr>
          <a:xfrm>
            <a:off x="868680" y="1371600"/>
            <a:ext cx="457200" cy="457200"/>
          </a:xfrm>
          <a:prstGeom prst="rect">
            <a:avLst/>
          </a:prstGeom>
        </p:spPr>
      </p:pic>
      <p:sp>
        <p:nvSpPr>
          <p:cNvPr id="10" name="TextBox 9"/>
          <p:cNvSpPr txBox="1"/>
          <p:nvPr/>
        </p:nvSpPr>
        <p:spPr>
          <a:xfrm>
            <a:off x="685800" y="2176272"/>
            <a:ext cx="2194560" cy="2926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200" b="1" i="0">
                <a:solidFill>
                  <a:srgbClr val="FFFFFF"/>
                </a:solidFill>
                <a:latin typeface="Times New Roman"/>
                <a:ea typeface="Times New Roman"/>
                <a:cs typeface="Times New Roman"/>
              </a:rPr>
              <a:t>Education</a:t>
            </a:r>
          </a:p>
        </p:txBody>
      </p:sp>
      <p:sp>
        <p:nvSpPr>
          <p:cNvPr id="11" name="TextBox 10"/>
          <p:cNvSpPr txBox="1"/>
          <p:nvPr/>
        </p:nvSpPr>
        <p:spPr>
          <a:xfrm>
            <a:off x="685800" y="2487168"/>
            <a:ext cx="2240280" cy="16002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The institution through which society formally passes on knowledge, skills, values and culture to its members.</a:t>
            </a:r>
          </a:p>
        </p:txBody>
      </p:sp>
      <p:sp>
        <p:nvSpPr>
          <p:cNvPr id="12" name="TextBox 11"/>
          <p:cNvSpPr txBox="1"/>
          <p:nvPr/>
        </p:nvSpPr>
        <p:spPr>
          <a:xfrm>
            <a:off x="685800" y="4114800"/>
            <a:ext cx="224028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FFFFFF"/>
                </a:solidFill>
                <a:latin typeface="Times New Roman"/>
                <a:ea typeface="Times New Roman"/>
                <a:cs typeface="Times New Roman"/>
              </a:rPr>
              <a:t>Macionis (2018)</a:t>
            </a:r>
          </a:p>
        </p:txBody>
      </p:sp>
      <p:sp>
        <p:nvSpPr>
          <p:cNvPr id="13" name="Rounded Rectangle 12"/>
          <p:cNvSpPr/>
          <p:nvPr/>
        </p:nvSpPr>
        <p:spPr>
          <a:xfrm>
            <a:off x="3383280" y="960120"/>
            <a:ext cx="2583180" cy="2240280"/>
          </a:xfrm>
          <a:prstGeom prst="roundRect">
            <a:avLst>
              <a:gd name="adj" fmla="val 4897"/>
            </a:avLst>
          </a:prstGeom>
          <a:solidFill>
            <a:srgbClr val="E5F0F5"/>
          </a:solidFill>
          <a:ln>
            <a:noFill/>
          </a:ln>
        </p:spPr>
        <p:txBody>
          <a:bodyPr rtlCol="0" anchor="ctr"/>
          <a:lstStyle/>
          <a:p>
            <a:pPr algn="ctr"/>
          </a:p>
        </p:txBody>
      </p:sp>
      <p:sp>
        <p:nvSpPr>
          <p:cNvPr id="14" name="TextBox 13"/>
          <p:cNvSpPr txBox="1"/>
          <p:nvPr/>
        </p:nvSpPr>
        <p:spPr>
          <a:xfrm>
            <a:off x="356616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2B6F8E"/>
                </a:solidFill>
                <a:latin typeface="Times New Roman"/>
                <a:ea typeface="Times New Roman"/>
                <a:cs typeface="Times New Roman"/>
              </a:rPr>
              <a:t>Functions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Transmission of culture</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Skills for work and careers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Social integration and national unity</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Research and innovation</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Opportunity for social mobility</a:t>
            </a:r>
          </a:p>
        </p:txBody>
      </p:sp>
      <p:sp>
        <p:nvSpPr>
          <p:cNvPr id="15" name="Rounded Rectangle 14"/>
          <p:cNvSpPr/>
          <p:nvPr/>
        </p:nvSpPr>
        <p:spPr>
          <a:xfrm>
            <a:off x="6103620" y="960120"/>
            <a:ext cx="2583180" cy="2240280"/>
          </a:xfrm>
          <a:prstGeom prst="roundRect">
            <a:avLst>
              <a:gd name="adj" fmla="val 4897"/>
            </a:avLst>
          </a:prstGeom>
          <a:solidFill>
            <a:srgbClr val="E5F0F5"/>
          </a:solidFill>
          <a:ln>
            <a:noFill/>
          </a:ln>
        </p:spPr>
        <p:txBody>
          <a:bodyPr rtlCol="0" anchor="ctr"/>
          <a:lstStyle/>
          <a:p>
            <a:pPr algn="ctr"/>
          </a:p>
        </p:txBody>
      </p:sp>
      <p:sp>
        <p:nvSpPr>
          <p:cNvPr id="16" name="TextBox 15"/>
          <p:cNvSpPr txBox="1"/>
          <p:nvPr/>
        </p:nvSpPr>
        <p:spPr>
          <a:xfrm>
            <a:off x="628650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2B6F8E"/>
                </a:solidFill>
                <a:latin typeface="Times New Roman"/>
                <a:ea typeface="Times New Roman"/>
                <a:cs typeface="Times New Roman"/>
              </a:rPr>
              <a:t>Forms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Formal: schools, colleges and universities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Non-formal: vocational training and adult literacy</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Informal: learning from family, peers and media</a:t>
            </a:r>
          </a:p>
        </p:txBody>
      </p:sp>
      <p:sp>
        <p:nvSpPr>
          <p:cNvPr id="17" name="Rounded Rectangle 16"/>
          <p:cNvSpPr/>
          <p:nvPr/>
        </p:nvSpPr>
        <p:spPr>
          <a:xfrm>
            <a:off x="3383280" y="3383280"/>
            <a:ext cx="5303520" cy="1143000"/>
          </a:xfrm>
          <a:prstGeom prst="roundRect">
            <a:avLst>
              <a:gd name="adj" fmla="val 9600"/>
            </a:avLst>
          </a:prstGeom>
          <a:solidFill>
            <a:srgbClr val="E9F2F3"/>
          </a:solidFill>
          <a:ln>
            <a:noFill/>
          </a:ln>
        </p:spPr>
        <p:txBody>
          <a:bodyPr rtlCol="0" anchor="ctr"/>
          <a:lstStyle/>
          <a:p>
            <a:pPr algn="ctr"/>
          </a:p>
        </p:txBody>
      </p:sp>
      <p:sp>
        <p:nvSpPr>
          <p:cNvPr id="18" name="Oval 17"/>
          <p:cNvSpPr/>
          <p:nvPr/>
        </p:nvSpPr>
        <p:spPr>
          <a:xfrm>
            <a:off x="3566160" y="3703320"/>
            <a:ext cx="502920" cy="502920"/>
          </a:xfrm>
          <a:prstGeom prst="ellipse">
            <a:avLst/>
          </a:prstGeom>
          <a:solidFill>
            <a:srgbClr val="E3A23B"/>
          </a:solidFill>
          <a:ln>
            <a:noFill/>
          </a:ln>
        </p:spPr>
        <p:txBody>
          <a:bodyPr rtlCol="0" anchor="ctr"/>
          <a:lstStyle/>
          <a:p>
            <a:pPr algn="ctr"/>
          </a:p>
        </p:txBody>
      </p:sp>
      <p:pic>
        <p:nvPicPr>
          <p:cNvPr id="19" name="Icon EA80" descr="image.png"/>
          <p:cNvPicPr>
            <a:picLocks noChangeAspect="1"/>
          </p:cNvPicPr>
          <p:nvPr/>
        </p:nvPicPr>
        <p:blipFill>
          <a:blip r:embed="rId4"/>
          <a:stretch>
            <a:fillRect/>
          </a:stretch>
        </p:blipFill>
        <p:spPr>
          <a:xfrm>
            <a:off x="3676802" y="3813962"/>
            <a:ext cx="281635" cy="281635"/>
          </a:xfrm>
          <a:prstGeom prst="rect">
            <a:avLst/>
          </a:prstGeom>
        </p:spPr>
      </p:pic>
      <p:sp>
        <p:nvSpPr>
          <p:cNvPr id="20" name="TextBox 19"/>
          <p:cNvSpPr txBox="1"/>
          <p:nvPr/>
        </p:nvSpPr>
        <p:spPr>
          <a:xfrm>
            <a:off x="4251960" y="3383280"/>
            <a:ext cx="4297680" cy="1143000"/>
          </a:xfrm>
          <a:prstGeom prst="rect">
            <a:avLst/>
          </a:prstGeom>
          <a:noFill/>
        </p:spPr>
        <p:txBody>
          <a:bodyPr wrap="square" lIns="0" rIns="0" tIns="0" bIns="0" anchor="ctr">
            <a:noAutofit/>
          </a:bodyPr>
          <a:lstStyle/>
          <a:p>
            <a:pPr algn="l" marL="0" indent="0">
              <a:lnSpc>
                <a:spcPct val="100000"/>
              </a:lnSpc>
              <a:spcBef>
                <a:spcPts val="0"/>
              </a:spcBef>
              <a:spcAft>
                <a:spcPts val="300"/>
              </a:spcAft>
              <a:buNone/>
            </a:pPr>
            <a:r>
              <a:rPr sz="1200" b="1" i="0">
                <a:solidFill>
                  <a:srgbClr val="14323F"/>
                </a:solidFill>
                <a:latin typeface="Times New Roman"/>
                <a:ea typeface="Times New Roman"/>
                <a:cs typeface="Times New Roman"/>
              </a:rPr>
              <a:t>Key idea</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The hidden curriculum: besides lessons, schools quietly teach discipline, punctuality and obedience.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Religion</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708"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11</a:t>
            </a:r>
          </a:p>
        </p:txBody>
      </p:sp>
      <p:sp>
        <p:nvSpPr>
          <p:cNvPr id="7" name="Rounded Rectangle 6"/>
          <p:cNvSpPr/>
          <p:nvPr/>
        </p:nvSpPr>
        <p:spPr>
          <a:xfrm>
            <a:off x="457200" y="960120"/>
            <a:ext cx="2651760" cy="3566160"/>
          </a:xfrm>
          <a:prstGeom prst="roundRect">
            <a:avLst>
              <a:gd name="adj" fmla="val 4827"/>
            </a:avLst>
          </a:prstGeom>
          <a:solidFill>
            <a:srgbClr val="3B7F52"/>
          </a:solidFill>
          <a:ln>
            <a:noFill/>
          </a:ln>
        </p:spPr>
        <p:txBody>
          <a:bodyPr rtlCol="0" anchor="ctr"/>
          <a:lstStyle/>
          <a:p>
            <a:pPr algn="ctr"/>
          </a:p>
        </p:txBody>
      </p:sp>
      <p:sp>
        <p:nvSpPr>
          <p:cNvPr id="8" name="Oval 7"/>
          <p:cNvSpPr/>
          <p:nvPr/>
        </p:nvSpPr>
        <p:spPr>
          <a:xfrm>
            <a:off x="685800" y="1188720"/>
            <a:ext cx="822960" cy="822960"/>
          </a:xfrm>
          <a:prstGeom prst="ellipse">
            <a:avLst/>
          </a:prstGeom>
          <a:solidFill>
            <a:srgbClr val="FFFFFF"/>
          </a:solidFill>
          <a:ln>
            <a:noFill/>
          </a:ln>
        </p:spPr>
        <p:txBody>
          <a:bodyPr rtlCol="0" anchor="ctr"/>
          <a:lstStyle/>
          <a:p>
            <a:pPr algn="ctr"/>
          </a:p>
        </p:txBody>
      </p:sp>
      <p:pic>
        <p:nvPicPr>
          <p:cNvPr id="9" name="Icon E708" descr="image.png"/>
          <p:cNvPicPr>
            <a:picLocks noChangeAspect="1"/>
          </p:cNvPicPr>
          <p:nvPr/>
        </p:nvPicPr>
        <p:blipFill>
          <a:blip r:embed="rId3"/>
          <a:stretch>
            <a:fillRect/>
          </a:stretch>
        </p:blipFill>
        <p:spPr>
          <a:xfrm>
            <a:off x="868680" y="1371600"/>
            <a:ext cx="457200" cy="457200"/>
          </a:xfrm>
          <a:prstGeom prst="rect">
            <a:avLst/>
          </a:prstGeom>
        </p:spPr>
      </p:pic>
      <p:sp>
        <p:nvSpPr>
          <p:cNvPr id="10" name="TextBox 9"/>
          <p:cNvSpPr txBox="1"/>
          <p:nvPr/>
        </p:nvSpPr>
        <p:spPr>
          <a:xfrm>
            <a:off x="685800" y="2176272"/>
            <a:ext cx="2194560" cy="2926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200" b="1" i="0">
                <a:solidFill>
                  <a:srgbClr val="FFFFFF"/>
                </a:solidFill>
                <a:latin typeface="Times New Roman"/>
                <a:ea typeface="Times New Roman"/>
                <a:cs typeface="Times New Roman"/>
              </a:rPr>
              <a:t>Religion</a:t>
            </a:r>
          </a:p>
        </p:txBody>
      </p:sp>
      <p:sp>
        <p:nvSpPr>
          <p:cNvPr id="11" name="TextBox 10"/>
          <p:cNvSpPr txBox="1"/>
          <p:nvPr/>
        </p:nvSpPr>
        <p:spPr>
          <a:xfrm>
            <a:off x="685800" y="2487168"/>
            <a:ext cx="2240280" cy="16002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“A unified system of beliefs and practices relative to sacred things” that unites believers into one moral community.</a:t>
            </a:r>
          </a:p>
        </p:txBody>
      </p:sp>
      <p:sp>
        <p:nvSpPr>
          <p:cNvPr id="12" name="TextBox 11"/>
          <p:cNvSpPr txBox="1"/>
          <p:nvPr/>
        </p:nvSpPr>
        <p:spPr>
          <a:xfrm>
            <a:off x="685800" y="4114800"/>
            <a:ext cx="224028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FFFFFF"/>
                </a:solidFill>
                <a:latin typeface="Times New Roman"/>
                <a:ea typeface="Times New Roman"/>
                <a:cs typeface="Times New Roman"/>
              </a:rPr>
              <a:t>Durkheim (1912/1995)</a:t>
            </a:r>
          </a:p>
        </p:txBody>
      </p:sp>
      <p:sp>
        <p:nvSpPr>
          <p:cNvPr id="13" name="Rounded Rectangle 12"/>
          <p:cNvSpPr/>
          <p:nvPr/>
        </p:nvSpPr>
        <p:spPr>
          <a:xfrm>
            <a:off x="3383280" y="960120"/>
            <a:ext cx="2583180" cy="2240280"/>
          </a:xfrm>
          <a:prstGeom prst="roundRect">
            <a:avLst>
              <a:gd name="adj" fmla="val 4897"/>
            </a:avLst>
          </a:prstGeom>
          <a:solidFill>
            <a:srgbClr val="E7F2EA"/>
          </a:solidFill>
          <a:ln>
            <a:noFill/>
          </a:ln>
        </p:spPr>
        <p:txBody>
          <a:bodyPr rtlCol="0" anchor="ctr"/>
          <a:lstStyle/>
          <a:p>
            <a:pPr algn="ctr"/>
          </a:p>
        </p:txBody>
      </p:sp>
      <p:sp>
        <p:nvSpPr>
          <p:cNvPr id="14" name="TextBox 13"/>
          <p:cNvSpPr txBox="1"/>
          <p:nvPr/>
        </p:nvSpPr>
        <p:spPr>
          <a:xfrm>
            <a:off x="356616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3B7F52"/>
                </a:solidFill>
                <a:latin typeface="Times New Roman"/>
                <a:ea typeface="Times New Roman"/>
                <a:cs typeface="Times New Roman"/>
              </a:rPr>
              <a:t>Functions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Gives meaning and purpose to life</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Builds social unity (cohesion)</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Moral guidance and social control</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Emotional comfort in hard times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Charity and welfare, e.g. zakat</a:t>
            </a:r>
          </a:p>
        </p:txBody>
      </p:sp>
      <p:sp>
        <p:nvSpPr>
          <p:cNvPr id="15" name="Rounded Rectangle 14"/>
          <p:cNvSpPr/>
          <p:nvPr/>
        </p:nvSpPr>
        <p:spPr>
          <a:xfrm>
            <a:off x="6103620" y="960120"/>
            <a:ext cx="2583180" cy="2240280"/>
          </a:xfrm>
          <a:prstGeom prst="roundRect">
            <a:avLst>
              <a:gd name="adj" fmla="val 4897"/>
            </a:avLst>
          </a:prstGeom>
          <a:solidFill>
            <a:srgbClr val="E7F2EA"/>
          </a:solidFill>
          <a:ln>
            <a:noFill/>
          </a:ln>
        </p:spPr>
        <p:txBody>
          <a:bodyPr rtlCol="0" anchor="ctr"/>
          <a:lstStyle/>
          <a:p>
            <a:pPr algn="ctr"/>
          </a:p>
        </p:txBody>
      </p:sp>
      <p:sp>
        <p:nvSpPr>
          <p:cNvPr id="16" name="TextBox 15"/>
          <p:cNvSpPr txBox="1"/>
          <p:nvPr/>
        </p:nvSpPr>
        <p:spPr>
          <a:xfrm>
            <a:off x="628650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3B7F52"/>
                </a:solidFill>
                <a:latin typeface="Times New Roman"/>
                <a:ea typeface="Times New Roman"/>
                <a:cs typeface="Times New Roman"/>
              </a:rPr>
              <a:t>Elements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Beliefs: faith in the sacred</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Rituals: prayer, fasting, pilgrimage</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Sacred symbols and places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A community of believers</a:t>
            </a:r>
          </a:p>
        </p:txBody>
      </p:sp>
      <p:sp>
        <p:nvSpPr>
          <p:cNvPr id="17" name="Rounded Rectangle 16"/>
          <p:cNvSpPr/>
          <p:nvPr/>
        </p:nvSpPr>
        <p:spPr>
          <a:xfrm>
            <a:off x="3383280" y="3383280"/>
            <a:ext cx="5303520" cy="1143000"/>
          </a:xfrm>
          <a:prstGeom prst="roundRect">
            <a:avLst>
              <a:gd name="adj" fmla="val 9600"/>
            </a:avLst>
          </a:prstGeom>
          <a:solidFill>
            <a:srgbClr val="E9F2F3"/>
          </a:solidFill>
          <a:ln>
            <a:noFill/>
          </a:ln>
        </p:spPr>
        <p:txBody>
          <a:bodyPr rtlCol="0" anchor="ctr"/>
          <a:lstStyle/>
          <a:p>
            <a:pPr algn="ctr"/>
          </a:p>
        </p:txBody>
      </p:sp>
      <p:sp>
        <p:nvSpPr>
          <p:cNvPr id="18" name="Oval 17"/>
          <p:cNvSpPr/>
          <p:nvPr/>
        </p:nvSpPr>
        <p:spPr>
          <a:xfrm>
            <a:off x="3566160" y="3703320"/>
            <a:ext cx="502920" cy="502920"/>
          </a:xfrm>
          <a:prstGeom prst="ellipse">
            <a:avLst/>
          </a:prstGeom>
          <a:solidFill>
            <a:srgbClr val="E3A23B"/>
          </a:solidFill>
          <a:ln>
            <a:noFill/>
          </a:ln>
        </p:spPr>
        <p:txBody>
          <a:bodyPr rtlCol="0" anchor="ctr"/>
          <a:lstStyle/>
          <a:p>
            <a:pPr algn="ctr"/>
          </a:p>
        </p:txBody>
      </p:sp>
      <p:pic>
        <p:nvPicPr>
          <p:cNvPr id="19" name="Icon EA80" descr="image.png"/>
          <p:cNvPicPr>
            <a:picLocks noChangeAspect="1"/>
          </p:cNvPicPr>
          <p:nvPr/>
        </p:nvPicPr>
        <p:blipFill>
          <a:blip r:embed="rId4"/>
          <a:stretch>
            <a:fillRect/>
          </a:stretch>
        </p:blipFill>
        <p:spPr>
          <a:xfrm>
            <a:off x="3676802" y="3813962"/>
            <a:ext cx="281635" cy="281635"/>
          </a:xfrm>
          <a:prstGeom prst="rect">
            <a:avLst/>
          </a:prstGeom>
        </p:spPr>
      </p:pic>
      <p:sp>
        <p:nvSpPr>
          <p:cNvPr id="20" name="TextBox 19"/>
          <p:cNvSpPr txBox="1"/>
          <p:nvPr/>
        </p:nvSpPr>
        <p:spPr>
          <a:xfrm>
            <a:off x="4251960" y="3383280"/>
            <a:ext cx="4297680" cy="1143000"/>
          </a:xfrm>
          <a:prstGeom prst="rect">
            <a:avLst/>
          </a:prstGeom>
          <a:noFill/>
        </p:spPr>
        <p:txBody>
          <a:bodyPr wrap="square" lIns="0" rIns="0" tIns="0" bIns="0" anchor="ctr">
            <a:noAutofit/>
          </a:bodyPr>
          <a:lstStyle/>
          <a:p>
            <a:pPr algn="l" marL="0" indent="0">
              <a:lnSpc>
                <a:spcPct val="100000"/>
              </a:lnSpc>
              <a:spcBef>
                <a:spcPts val="0"/>
              </a:spcBef>
              <a:spcAft>
                <a:spcPts val="300"/>
              </a:spcAft>
              <a:buNone/>
            </a:pPr>
            <a:r>
              <a:rPr sz="1200" b="1" i="0">
                <a:solidFill>
                  <a:srgbClr val="14323F"/>
                </a:solidFill>
                <a:latin typeface="Times New Roman"/>
                <a:ea typeface="Times New Roman"/>
                <a:cs typeface="Times New Roman"/>
              </a:rPr>
              <a:t>Key idea</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Max Weber (1905/2001) showed that religious values can shape economic life, as in </a:t>
            </a:r>
            <a:r>
              <a:rPr sz="1100" b="0" i="1">
                <a:solidFill>
                  <a:srgbClr val="1E2A30"/>
                </a:solidFill>
                <a:latin typeface="Times New Roman"/>
                <a:ea typeface="Times New Roman"/>
                <a:cs typeface="Times New Roman"/>
              </a:rPr>
              <a:t>The Protestant Ethic and the Spirit of Capitalism</a:t>
            </a:r>
            <a:r>
              <a:rPr sz="1100" b="0" i="0">
                <a:solidFill>
                  <a:srgbClr val="1E2A30"/>
                </a:solidFill>
                <a:latin typeface="Times New Roman"/>
                <a:ea typeface="Times New Roman"/>
                <a:cs typeface="Times New Roman"/>
              </a:rPr>
              <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Economy</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AFC"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12</a:t>
            </a:r>
          </a:p>
        </p:txBody>
      </p:sp>
      <p:sp>
        <p:nvSpPr>
          <p:cNvPr id="7" name="Rounded Rectangle 6"/>
          <p:cNvSpPr/>
          <p:nvPr/>
        </p:nvSpPr>
        <p:spPr>
          <a:xfrm>
            <a:off x="457200" y="960120"/>
            <a:ext cx="2651760" cy="3566160"/>
          </a:xfrm>
          <a:prstGeom prst="roundRect">
            <a:avLst>
              <a:gd name="adj" fmla="val 4827"/>
            </a:avLst>
          </a:prstGeom>
          <a:solidFill>
            <a:srgbClr val="8F6516"/>
          </a:solidFill>
          <a:ln>
            <a:noFill/>
          </a:ln>
        </p:spPr>
        <p:txBody>
          <a:bodyPr rtlCol="0" anchor="ctr"/>
          <a:lstStyle/>
          <a:p>
            <a:pPr algn="ctr"/>
          </a:p>
        </p:txBody>
      </p:sp>
      <p:sp>
        <p:nvSpPr>
          <p:cNvPr id="8" name="Oval 7"/>
          <p:cNvSpPr/>
          <p:nvPr/>
        </p:nvSpPr>
        <p:spPr>
          <a:xfrm>
            <a:off x="685800" y="1188720"/>
            <a:ext cx="822960" cy="822960"/>
          </a:xfrm>
          <a:prstGeom prst="ellipse">
            <a:avLst/>
          </a:prstGeom>
          <a:solidFill>
            <a:srgbClr val="FFFFFF"/>
          </a:solidFill>
          <a:ln>
            <a:noFill/>
          </a:ln>
        </p:spPr>
        <p:txBody>
          <a:bodyPr rtlCol="0" anchor="ctr"/>
          <a:lstStyle/>
          <a:p>
            <a:pPr algn="ctr"/>
          </a:p>
        </p:txBody>
      </p:sp>
      <p:pic>
        <p:nvPicPr>
          <p:cNvPr id="9" name="Icon EAFC" descr="image.png"/>
          <p:cNvPicPr>
            <a:picLocks noChangeAspect="1"/>
          </p:cNvPicPr>
          <p:nvPr/>
        </p:nvPicPr>
        <p:blipFill>
          <a:blip r:embed="rId3"/>
          <a:stretch>
            <a:fillRect/>
          </a:stretch>
        </p:blipFill>
        <p:spPr>
          <a:xfrm>
            <a:off x="868680" y="1371600"/>
            <a:ext cx="457200" cy="457200"/>
          </a:xfrm>
          <a:prstGeom prst="rect">
            <a:avLst/>
          </a:prstGeom>
        </p:spPr>
      </p:pic>
      <p:sp>
        <p:nvSpPr>
          <p:cNvPr id="10" name="TextBox 9"/>
          <p:cNvSpPr txBox="1"/>
          <p:nvPr/>
        </p:nvSpPr>
        <p:spPr>
          <a:xfrm>
            <a:off x="685800" y="2176272"/>
            <a:ext cx="2194560" cy="2926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200" b="1" i="0">
                <a:solidFill>
                  <a:srgbClr val="FFFFFF"/>
                </a:solidFill>
                <a:latin typeface="Times New Roman"/>
                <a:ea typeface="Times New Roman"/>
                <a:cs typeface="Times New Roman"/>
              </a:rPr>
              <a:t>Economy</a:t>
            </a:r>
          </a:p>
        </p:txBody>
      </p:sp>
      <p:sp>
        <p:nvSpPr>
          <p:cNvPr id="11" name="TextBox 10"/>
          <p:cNvSpPr txBox="1"/>
          <p:nvPr/>
        </p:nvSpPr>
        <p:spPr>
          <a:xfrm>
            <a:off x="685800" y="2487168"/>
            <a:ext cx="2240280" cy="16002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The institution that organizes the production, distribution and consumption of goods and services in a society.</a:t>
            </a:r>
          </a:p>
        </p:txBody>
      </p:sp>
      <p:sp>
        <p:nvSpPr>
          <p:cNvPr id="12" name="TextBox 11"/>
          <p:cNvSpPr txBox="1"/>
          <p:nvPr/>
        </p:nvSpPr>
        <p:spPr>
          <a:xfrm>
            <a:off x="685800" y="4114800"/>
            <a:ext cx="224028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FFFFFF"/>
                </a:solidFill>
                <a:latin typeface="Times New Roman"/>
                <a:ea typeface="Times New Roman"/>
                <a:cs typeface="Times New Roman"/>
              </a:rPr>
              <a:t>Macionis (2018)</a:t>
            </a:r>
          </a:p>
        </p:txBody>
      </p:sp>
      <p:sp>
        <p:nvSpPr>
          <p:cNvPr id="13" name="Rounded Rectangle 12"/>
          <p:cNvSpPr/>
          <p:nvPr/>
        </p:nvSpPr>
        <p:spPr>
          <a:xfrm>
            <a:off x="3383280" y="960120"/>
            <a:ext cx="2583180" cy="2240280"/>
          </a:xfrm>
          <a:prstGeom prst="roundRect">
            <a:avLst>
              <a:gd name="adj" fmla="val 4897"/>
            </a:avLst>
          </a:prstGeom>
          <a:solidFill>
            <a:srgbClr val="F8F0DE"/>
          </a:solidFill>
          <a:ln>
            <a:noFill/>
          </a:ln>
        </p:spPr>
        <p:txBody>
          <a:bodyPr rtlCol="0" anchor="ctr"/>
          <a:lstStyle/>
          <a:p>
            <a:pPr algn="ctr"/>
          </a:p>
        </p:txBody>
      </p:sp>
      <p:sp>
        <p:nvSpPr>
          <p:cNvPr id="14" name="TextBox 13"/>
          <p:cNvSpPr txBox="1"/>
          <p:nvPr/>
        </p:nvSpPr>
        <p:spPr>
          <a:xfrm>
            <a:off x="356616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8F6516"/>
                </a:solidFill>
                <a:latin typeface="Times New Roman"/>
                <a:ea typeface="Times New Roman"/>
                <a:cs typeface="Times New Roman"/>
              </a:rPr>
              <a:t>Functions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Production of goods and services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Distribution through trade and markets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Creating jobs and occupations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Division of labour</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Rules of property and ownership</a:t>
            </a:r>
          </a:p>
        </p:txBody>
      </p:sp>
      <p:sp>
        <p:nvSpPr>
          <p:cNvPr id="15" name="Rounded Rectangle 14"/>
          <p:cNvSpPr/>
          <p:nvPr/>
        </p:nvSpPr>
        <p:spPr>
          <a:xfrm>
            <a:off x="6103620" y="960120"/>
            <a:ext cx="2583180" cy="2240280"/>
          </a:xfrm>
          <a:prstGeom prst="roundRect">
            <a:avLst>
              <a:gd name="adj" fmla="val 4897"/>
            </a:avLst>
          </a:prstGeom>
          <a:solidFill>
            <a:srgbClr val="F8F0DE"/>
          </a:solidFill>
          <a:ln>
            <a:noFill/>
          </a:ln>
        </p:spPr>
        <p:txBody>
          <a:bodyPr rtlCol="0" anchor="ctr"/>
          <a:lstStyle/>
          <a:p>
            <a:pPr algn="ctr"/>
          </a:p>
        </p:txBody>
      </p:sp>
      <p:sp>
        <p:nvSpPr>
          <p:cNvPr id="16" name="TextBox 15"/>
          <p:cNvSpPr txBox="1"/>
          <p:nvPr/>
        </p:nvSpPr>
        <p:spPr>
          <a:xfrm>
            <a:off x="628650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8F6516"/>
                </a:solidFill>
                <a:latin typeface="Times New Roman"/>
                <a:ea typeface="Times New Roman"/>
                <a:cs typeface="Times New Roman"/>
              </a:rPr>
              <a:t>Systems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Capitalism: private ownership and free markets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Socialism: collective or state ownership</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Mixed economy: a combination of both</a:t>
            </a:r>
          </a:p>
        </p:txBody>
      </p:sp>
      <p:sp>
        <p:nvSpPr>
          <p:cNvPr id="17" name="Rounded Rectangle 16"/>
          <p:cNvSpPr/>
          <p:nvPr/>
        </p:nvSpPr>
        <p:spPr>
          <a:xfrm>
            <a:off x="3383280" y="3383280"/>
            <a:ext cx="5303520" cy="1143000"/>
          </a:xfrm>
          <a:prstGeom prst="roundRect">
            <a:avLst>
              <a:gd name="adj" fmla="val 9600"/>
            </a:avLst>
          </a:prstGeom>
          <a:solidFill>
            <a:srgbClr val="E9F2F3"/>
          </a:solidFill>
          <a:ln>
            <a:noFill/>
          </a:ln>
        </p:spPr>
        <p:txBody>
          <a:bodyPr rtlCol="0" anchor="ctr"/>
          <a:lstStyle/>
          <a:p>
            <a:pPr algn="ctr"/>
          </a:p>
        </p:txBody>
      </p:sp>
      <p:sp>
        <p:nvSpPr>
          <p:cNvPr id="18" name="Oval 17"/>
          <p:cNvSpPr/>
          <p:nvPr/>
        </p:nvSpPr>
        <p:spPr>
          <a:xfrm>
            <a:off x="3566160" y="3703320"/>
            <a:ext cx="502920" cy="502920"/>
          </a:xfrm>
          <a:prstGeom prst="ellipse">
            <a:avLst/>
          </a:prstGeom>
          <a:solidFill>
            <a:srgbClr val="E3A23B"/>
          </a:solidFill>
          <a:ln>
            <a:noFill/>
          </a:ln>
        </p:spPr>
        <p:txBody>
          <a:bodyPr rtlCol="0" anchor="ctr"/>
          <a:lstStyle/>
          <a:p>
            <a:pPr algn="ctr"/>
          </a:p>
        </p:txBody>
      </p:sp>
      <p:pic>
        <p:nvPicPr>
          <p:cNvPr id="19" name="Icon EA80" descr="image.png"/>
          <p:cNvPicPr>
            <a:picLocks noChangeAspect="1"/>
          </p:cNvPicPr>
          <p:nvPr/>
        </p:nvPicPr>
        <p:blipFill>
          <a:blip r:embed="rId4"/>
          <a:stretch>
            <a:fillRect/>
          </a:stretch>
        </p:blipFill>
        <p:spPr>
          <a:xfrm>
            <a:off x="3676802" y="3813962"/>
            <a:ext cx="281635" cy="281635"/>
          </a:xfrm>
          <a:prstGeom prst="rect">
            <a:avLst/>
          </a:prstGeom>
        </p:spPr>
      </p:pic>
      <p:sp>
        <p:nvSpPr>
          <p:cNvPr id="20" name="TextBox 19"/>
          <p:cNvSpPr txBox="1"/>
          <p:nvPr/>
        </p:nvSpPr>
        <p:spPr>
          <a:xfrm>
            <a:off x="4251960" y="3383280"/>
            <a:ext cx="4297680" cy="1143000"/>
          </a:xfrm>
          <a:prstGeom prst="rect">
            <a:avLst/>
          </a:prstGeom>
          <a:noFill/>
        </p:spPr>
        <p:txBody>
          <a:bodyPr wrap="square" lIns="0" rIns="0" tIns="0" bIns="0" anchor="ctr">
            <a:noAutofit/>
          </a:bodyPr>
          <a:lstStyle/>
          <a:p>
            <a:pPr algn="l" marL="0" indent="0">
              <a:lnSpc>
                <a:spcPct val="100000"/>
              </a:lnSpc>
              <a:spcBef>
                <a:spcPts val="0"/>
              </a:spcBef>
              <a:spcAft>
                <a:spcPts val="300"/>
              </a:spcAft>
              <a:buNone/>
            </a:pPr>
            <a:r>
              <a:rPr sz="1200" b="1" i="0">
                <a:solidFill>
                  <a:srgbClr val="14323F"/>
                </a:solidFill>
                <a:latin typeface="Times New Roman"/>
                <a:ea typeface="Times New Roman"/>
                <a:cs typeface="Times New Roman"/>
              </a:rPr>
              <a:t>Key idea</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Durkheim (1893/1984): as societies grow, work becomes more specialized; this division of labour makes people depend on one another.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Political Institution (State)</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825"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13</a:t>
            </a:r>
          </a:p>
        </p:txBody>
      </p:sp>
      <p:sp>
        <p:nvSpPr>
          <p:cNvPr id="7" name="Rounded Rectangle 6"/>
          <p:cNvSpPr/>
          <p:nvPr/>
        </p:nvSpPr>
        <p:spPr>
          <a:xfrm>
            <a:off x="457200" y="960120"/>
            <a:ext cx="2651760" cy="3566160"/>
          </a:xfrm>
          <a:prstGeom prst="roundRect">
            <a:avLst>
              <a:gd name="adj" fmla="val 4827"/>
            </a:avLst>
          </a:prstGeom>
          <a:solidFill>
            <a:srgbClr val="5E4785"/>
          </a:solidFill>
          <a:ln>
            <a:noFill/>
          </a:ln>
        </p:spPr>
        <p:txBody>
          <a:bodyPr rtlCol="0" anchor="ctr"/>
          <a:lstStyle/>
          <a:p>
            <a:pPr algn="ctr"/>
          </a:p>
        </p:txBody>
      </p:sp>
      <p:sp>
        <p:nvSpPr>
          <p:cNvPr id="8" name="Oval 7"/>
          <p:cNvSpPr/>
          <p:nvPr/>
        </p:nvSpPr>
        <p:spPr>
          <a:xfrm>
            <a:off x="685800" y="1188720"/>
            <a:ext cx="822960" cy="822960"/>
          </a:xfrm>
          <a:prstGeom prst="ellipse">
            <a:avLst/>
          </a:prstGeom>
          <a:solidFill>
            <a:srgbClr val="FFFFFF"/>
          </a:solidFill>
          <a:ln>
            <a:noFill/>
          </a:ln>
        </p:spPr>
        <p:txBody>
          <a:bodyPr rtlCol="0" anchor="ctr"/>
          <a:lstStyle/>
          <a:p>
            <a:pPr algn="ctr"/>
          </a:p>
        </p:txBody>
      </p:sp>
      <p:pic>
        <p:nvPicPr>
          <p:cNvPr id="9" name="Icon E825" descr="image.png"/>
          <p:cNvPicPr>
            <a:picLocks noChangeAspect="1"/>
          </p:cNvPicPr>
          <p:nvPr/>
        </p:nvPicPr>
        <p:blipFill>
          <a:blip r:embed="rId3"/>
          <a:stretch>
            <a:fillRect/>
          </a:stretch>
        </p:blipFill>
        <p:spPr>
          <a:xfrm>
            <a:off x="868680" y="1371600"/>
            <a:ext cx="457200" cy="457200"/>
          </a:xfrm>
          <a:prstGeom prst="rect">
            <a:avLst/>
          </a:prstGeom>
        </p:spPr>
      </p:pic>
      <p:sp>
        <p:nvSpPr>
          <p:cNvPr id="10" name="TextBox 9"/>
          <p:cNvSpPr txBox="1"/>
          <p:nvPr/>
        </p:nvSpPr>
        <p:spPr>
          <a:xfrm>
            <a:off x="685800" y="2176272"/>
            <a:ext cx="2194560" cy="29260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200" b="1" i="0">
                <a:solidFill>
                  <a:srgbClr val="FFFFFF"/>
                </a:solidFill>
                <a:latin typeface="Times New Roman"/>
                <a:ea typeface="Times New Roman"/>
                <a:cs typeface="Times New Roman"/>
              </a:rPr>
              <a:t>Political Institution</a:t>
            </a:r>
          </a:p>
        </p:txBody>
      </p:sp>
      <p:sp>
        <p:nvSpPr>
          <p:cNvPr id="11" name="TextBox 10"/>
          <p:cNvSpPr txBox="1"/>
          <p:nvPr/>
        </p:nvSpPr>
        <p:spPr>
          <a:xfrm>
            <a:off x="685800" y="2487168"/>
            <a:ext cx="2240280" cy="160020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The institution that distributes power, makes and enforces laws, and maintains order within a society.</a:t>
            </a:r>
          </a:p>
        </p:txBody>
      </p:sp>
      <p:sp>
        <p:nvSpPr>
          <p:cNvPr id="12" name="TextBox 11"/>
          <p:cNvSpPr txBox="1"/>
          <p:nvPr/>
        </p:nvSpPr>
        <p:spPr>
          <a:xfrm>
            <a:off x="685800" y="4114800"/>
            <a:ext cx="224028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1">
                <a:solidFill>
                  <a:srgbClr val="FFFFFF"/>
                </a:solidFill>
                <a:latin typeface="Times New Roman"/>
                <a:ea typeface="Times New Roman"/>
                <a:cs typeface="Times New Roman"/>
              </a:rPr>
              <a:t>Macionis (2018)</a:t>
            </a:r>
          </a:p>
        </p:txBody>
      </p:sp>
      <p:sp>
        <p:nvSpPr>
          <p:cNvPr id="13" name="Rounded Rectangle 12"/>
          <p:cNvSpPr/>
          <p:nvPr/>
        </p:nvSpPr>
        <p:spPr>
          <a:xfrm>
            <a:off x="3383280" y="960120"/>
            <a:ext cx="2583180" cy="2240280"/>
          </a:xfrm>
          <a:prstGeom prst="roundRect">
            <a:avLst>
              <a:gd name="adj" fmla="val 4897"/>
            </a:avLst>
          </a:prstGeom>
          <a:solidFill>
            <a:srgbClr val="EEEAF4"/>
          </a:solidFill>
          <a:ln>
            <a:noFill/>
          </a:ln>
        </p:spPr>
        <p:txBody>
          <a:bodyPr rtlCol="0" anchor="ctr"/>
          <a:lstStyle/>
          <a:p>
            <a:pPr algn="ctr"/>
          </a:p>
        </p:txBody>
      </p:sp>
      <p:sp>
        <p:nvSpPr>
          <p:cNvPr id="14" name="TextBox 13"/>
          <p:cNvSpPr txBox="1"/>
          <p:nvPr/>
        </p:nvSpPr>
        <p:spPr>
          <a:xfrm>
            <a:off x="356616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5E4785"/>
                </a:solidFill>
                <a:latin typeface="Times New Roman"/>
                <a:ea typeface="Times New Roman"/>
                <a:cs typeface="Times New Roman"/>
              </a:rPr>
              <a:t>Functions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Maintaining law and order</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Defence against external threats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Making and enforcing laws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Public welfare services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Resolving conflicts</a:t>
            </a:r>
          </a:p>
        </p:txBody>
      </p:sp>
      <p:sp>
        <p:nvSpPr>
          <p:cNvPr id="15" name="Rounded Rectangle 14"/>
          <p:cNvSpPr/>
          <p:nvPr/>
        </p:nvSpPr>
        <p:spPr>
          <a:xfrm>
            <a:off x="6103620" y="960120"/>
            <a:ext cx="2583180" cy="2240280"/>
          </a:xfrm>
          <a:prstGeom prst="roundRect">
            <a:avLst>
              <a:gd name="adj" fmla="val 4897"/>
            </a:avLst>
          </a:prstGeom>
          <a:solidFill>
            <a:srgbClr val="EEEAF4"/>
          </a:solidFill>
          <a:ln>
            <a:noFill/>
          </a:ln>
        </p:spPr>
        <p:txBody>
          <a:bodyPr rtlCol="0" anchor="ctr"/>
          <a:lstStyle/>
          <a:p>
            <a:pPr algn="ctr"/>
          </a:p>
        </p:txBody>
      </p:sp>
      <p:sp>
        <p:nvSpPr>
          <p:cNvPr id="16" name="TextBox 15"/>
          <p:cNvSpPr txBox="1"/>
          <p:nvPr/>
        </p:nvSpPr>
        <p:spPr>
          <a:xfrm>
            <a:off x="6286500" y="1097280"/>
            <a:ext cx="2240280" cy="2011680"/>
          </a:xfrm>
          <a:prstGeom prst="rect">
            <a:avLst/>
          </a:prstGeom>
          <a:noFill/>
        </p:spPr>
        <p:txBody>
          <a:bodyPr wrap="square" lIns="0" rIns="0" tIns="0" bIns="0" anchor="t">
            <a:noAutofit/>
          </a:bodyPr>
          <a:lstStyle/>
          <a:p>
            <a:pPr algn="l" marL="0" indent="0">
              <a:lnSpc>
                <a:spcPct val="100000"/>
              </a:lnSpc>
              <a:spcBef>
                <a:spcPts val="0"/>
              </a:spcBef>
              <a:spcAft>
                <a:spcPts val="600"/>
              </a:spcAft>
              <a:buNone/>
            </a:pPr>
            <a:r>
              <a:rPr sz="1200" b="1" i="0">
                <a:solidFill>
                  <a:srgbClr val="5E4785"/>
                </a:solidFill>
                <a:latin typeface="Times New Roman"/>
                <a:ea typeface="Times New Roman"/>
                <a:cs typeface="Times New Roman"/>
              </a:rPr>
              <a:t>Forms</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Monarchy</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Democracy</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Authoritarianism</a:t>
            </a:r>
          </a:p>
          <a:p>
            <a:pPr algn="l" marL="164592" indent="-164592">
              <a:lnSpc>
                <a:spcPct val="100000"/>
              </a:lnSpc>
              <a:spcBef>
                <a:spcPts val="0"/>
              </a:spcBef>
              <a:spcAft>
                <a:spcPts val="500"/>
              </a:spcAft>
              <a:buFont typeface="Arial"/>
              <a:buChar char="•"/>
            </a:pPr>
            <a:r>
              <a:rPr sz="1100" b="0" i="0">
                <a:solidFill>
                  <a:srgbClr val="1E2A30"/>
                </a:solidFill>
                <a:latin typeface="Times New Roman"/>
                <a:ea typeface="Times New Roman"/>
                <a:cs typeface="Times New Roman"/>
              </a:rPr>
              <a:t>Totalitarianism</a:t>
            </a:r>
          </a:p>
        </p:txBody>
      </p:sp>
      <p:sp>
        <p:nvSpPr>
          <p:cNvPr id="17" name="Rounded Rectangle 16"/>
          <p:cNvSpPr/>
          <p:nvPr/>
        </p:nvSpPr>
        <p:spPr>
          <a:xfrm>
            <a:off x="3383280" y="3383280"/>
            <a:ext cx="5303520" cy="1143000"/>
          </a:xfrm>
          <a:prstGeom prst="roundRect">
            <a:avLst>
              <a:gd name="adj" fmla="val 9600"/>
            </a:avLst>
          </a:prstGeom>
          <a:solidFill>
            <a:srgbClr val="E9F2F3"/>
          </a:solidFill>
          <a:ln>
            <a:noFill/>
          </a:ln>
        </p:spPr>
        <p:txBody>
          <a:bodyPr rtlCol="0" anchor="ctr"/>
          <a:lstStyle/>
          <a:p>
            <a:pPr algn="ctr"/>
          </a:p>
        </p:txBody>
      </p:sp>
      <p:sp>
        <p:nvSpPr>
          <p:cNvPr id="18" name="Oval 17"/>
          <p:cNvSpPr/>
          <p:nvPr/>
        </p:nvSpPr>
        <p:spPr>
          <a:xfrm>
            <a:off x="3566160" y="3703320"/>
            <a:ext cx="502920" cy="502920"/>
          </a:xfrm>
          <a:prstGeom prst="ellipse">
            <a:avLst/>
          </a:prstGeom>
          <a:solidFill>
            <a:srgbClr val="E3A23B"/>
          </a:solidFill>
          <a:ln>
            <a:noFill/>
          </a:ln>
        </p:spPr>
        <p:txBody>
          <a:bodyPr rtlCol="0" anchor="ctr"/>
          <a:lstStyle/>
          <a:p>
            <a:pPr algn="ctr"/>
          </a:p>
        </p:txBody>
      </p:sp>
      <p:pic>
        <p:nvPicPr>
          <p:cNvPr id="19" name="Icon EA80" descr="image.png"/>
          <p:cNvPicPr>
            <a:picLocks noChangeAspect="1"/>
          </p:cNvPicPr>
          <p:nvPr/>
        </p:nvPicPr>
        <p:blipFill>
          <a:blip r:embed="rId4"/>
          <a:stretch>
            <a:fillRect/>
          </a:stretch>
        </p:blipFill>
        <p:spPr>
          <a:xfrm>
            <a:off x="3676802" y="3813962"/>
            <a:ext cx="281635" cy="281635"/>
          </a:xfrm>
          <a:prstGeom prst="rect">
            <a:avLst/>
          </a:prstGeom>
        </p:spPr>
      </p:pic>
      <p:sp>
        <p:nvSpPr>
          <p:cNvPr id="20" name="TextBox 19"/>
          <p:cNvSpPr txBox="1"/>
          <p:nvPr/>
        </p:nvSpPr>
        <p:spPr>
          <a:xfrm>
            <a:off x="4251960" y="3383280"/>
            <a:ext cx="4297680" cy="1143000"/>
          </a:xfrm>
          <a:prstGeom prst="rect">
            <a:avLst/>
          </a:prstGeom>
          <a:noFill/>
        </p:spPr>
        <p:txBody>
          <a:bodyPr wrap="square" lIns="0" rIns="0" tIns="0" bIns="0" anchor="ctr">
            <a:noAutofit/>
          </a:bodyPr>
          <a:lstStyle/>
          <a:p>
            <a:pPr algn="l" marL="0" indent="0">
              <a:lnSpc>
                <a:spcPct val="100000"/>
              </a:lnSpc>
              <a:spcBef>
                <a:spcPts val="0"/>
              </a:spcBef>
              <a:spcAft>
                <a:spcPts val="300"/>
              </a:spcAft>
              <a:buNone/>
            </a:pPr>
            <a:r>
              <a:rPr sz="1200" b="1" i="0">
                <a:solidFill>
                  <a:srgbClr val="14323F"/>
                </a:solidFill>
                <a:latin typeface="Times New Roman"/>
                <a:ea typeface="Times New Roman"/>
                <a:cs typeface="Times New Roman"/>
              </a:rPr>
              <a:t>Key idea</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Weber's (1922/1978) three types of authority: traditional (custom), charismatic (personal qualities) and rational-legal (law and office).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Interrelationship of Institutions</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71B"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14</a:t>
            </a:r>
          </a:p>
        </p:txBody>
      </p:sp>
      <p:cxnSp>
        <p:nvCxnSpPr>
          <p:cNvPr id="7" name="Connector 6"/>
          <p:cNvCxnSpPr/>
          <p:nvPr/>
        </p:nvCxnSpPr>
        <p:spPr>
          <a:xfrm flipV="1">
            <a:off x="2331720" y="1536192"/>
            <a:ext cx="0" cy="1207008"/>
          </a:xfrm>
          <a:prstGeom prst="line">
            <a:avLst/>
          </a:prstGeom>
          <a:ln w="19050">
            <a:solidFill>
              <a:srgbClr val="B9CCD1"/>
            </a:solidFill>
          </a:ln>
        </p:spPr>
      </p:cxnSp>
      <p:cxnSp>
        <p:nvCxnSpPr>
          <p:cNvPr id="8" name="Connector 7"/>
          <p:cNvCxnSpPr/>
          <p:nvPr/>
        </p:nvCxnSpPr>
        <p:spPr>
          <a:xfrm flipV="1">
            <a:off x="2331720" y="2370214"/>
            <a:ext cx="1147932" cy="372986"/>
          </a:xfrm>
          <a:prstGeom prst="line">
            <a:avLst/>
          </a:prstGeom>
          <a:ln w="19050">
            <a:solidFill>
              <a:srgbClr val="B9CCD1"/>
            </a:solidFill>
          </a:ln>
        </p:spPr>
      </p:cxnSp>
      <p:cxnSp>
        <p:nvCxnSpPr>
          <p:cNvPr id="9" name="Connector 8"/>
          <p:cNvCxnSpPr/>
          <p:nvPr/>
        </p:nvCxnSpPr>
        <p:spPr>
          <a:xfrm>
            <a:off x="2331720" y="2743200"/>
            <a:ext cx="709461" cy="976489"/>
          </a:xfrm>
          <a:prstGeom prst="line">
            <a:avLst/>
          </a:prstGeom>
          <a:ln w="19050">
            <a:solidFill>
              <a:srgbClr val="B9CCD1"/>
            </a:solidFill>
          </a:ln>
        </p:spPr>
      </p:cxnSp>
      <p:cxnSp>
        <p:nvCxnSpPr>
          <p:cNvPr id="10" name="Connector 9"/>
          <p:cNvCxnSpPr/>
          <p:nvPr/>
        </p:nvCxnSpPr>
        <p:spPr>
          <a:xfrm flipH="1">
            <a:off x="1622258" y="2743200"/>
            <a:ext cx="709462" cy="976489"/>
          </a:xfrm>
          <a:prstGeom prst="line">
            <a:avLst/>
          </a:prstGeom>
          <a:ln w="19050">
            <a:solidFill>
              <a:srgbClr val="B9CCD1"/>
            </a:solidFill>
          </a:ln>
        </p:spPr>
      </p:cxnSp>
      <p:cxnSp>
        <p:nvCxnSpPr>
          <p:cNvPr id="11" name="Connector 10"/>
          <p:cNvCxnSpPr/>
          <p:nvPr/>
        </p:nvCxnSpPr>
        <p:spPr>
          <a:xfrm flipH="1" flipV="1">
            <a:off x="1183787" y="2370214"/>
            <a:ext cx="1147933" cy="372986"/>
          </a:xfrm>
          <a:prstGeom prst="line">
            <a:avLst/>
          </a:prstGeom>
          <a:ln w="19050">
            <a:solidFill>
              <a:srgbClr val="B9CCD1"/>
            </a:solidFill>
          </a:ln>
        </p:spPr>
      </p:cxnSp>
      <p:sp>
        <p:nvSpPr>
          <p:cNvPr id="12" name="Oval 11"/>
          <p:cNvSpPr/>
          <p:nvPr/>
        </p:nvSpPr>
        <p:spPr>
          <a:xfrm>
            <a:off x="1874519" y="2286000"/>
            <a:ext cx="914400" cy="914400"/>
          </a:xfrm>
          <a:prstGeom prst="ellipse">
            <a:avLst/>
          </a:prstGeom>
          <a:solidFill>
            <a:srgbClr val="14323F"/>
          </a:solidFill>
          <a:ln>
            <a:noFill/>
          </a:ln>
        </p:spPr>
        <p:txBody>
          <a:bodyPr rtlCol="0" anchor="ctr"/>
          <a:lstStyle/>
          <a:p>
            <a:pPr algn="ctr"/>
          </a:p>
        </p:txBody>
      </p:sp>
      <p:sp>
        <p:nvSpPr>
          <p:cNvPr id="13" name="Society"/>
          <p:cNvSpPr txBox="1"/>
          <p:nvPr/>
        </p:nvSpPr>
        <p:spPr>
          <a:xfrm>
            <a:off x="1874519" y="2286000"/>
            <a:ext cx="914400" cy="91440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FFFFFF"/>
                </a:solidFill>
                <a:latin typeface="Times New Roman"/>
                <a:ea typeface="Times New Roman"/>
                <a:cs typeface="Times New Roman"/>
              </a:rPr>
              <a:t>Society</a:t>
            </a:r>
          </a:p>
        </p:txBody>
      </p:sp>
      <p:sp>
        <p:nvSpPr>
          <p:cNvPr id="14" name="Oval 13"/>
          <p:cNvSpPr/>
          <p:nvPr/>
        </p:nvSpPr>
        <p:spPr>
          <a:xfrm>
            <a:off x="2029967" y="1234439"/>
            <a:ext cx="603504" cy="603504"/>
          </a:xfrm>
          <a:prstGeom prst="ellipse">
            <a:avLst/>
          </a:prstGeom>
          <a:solidFill>
            <a:srgbClr val="C2553F"/>
          </a:solidFill>
          <a:ln>
            <a:noFill/>
          </a:ln>
        </p:spPr>
        <p:txBody>
          <a:bodyPr rtlCol="0" anchor="ctr"/>
          <a:lstStyle/>
          <a:p>
            <a:pPr algn="ctr"/>
          </a:p>
        </p:txBody>
      </p:sp>
      <p:pic>
        <p:nvPicPr>
          <p:cNvPr id="15" name="Icon E902" descr="image.png"/>
          <p:cNvPicPr>
            <a:picLocks noChangeAspect="1"/>
          </p:cNvPicPr>
          <p:nvPr/>
        </p:nvPicPr>
        <p:blipFill>
          <a:blip r:embed="rId3"/>
          <a:stretch>
            <a:fillRect/>
          </a:stretch>
        </p:blipFill>
        <p:spPr>
          <a:xfrm>
            <a:off x="2162738" y="1367210"/>
            <a:ext cx="337962" cy="337962"/>
          </a:xfrm>
          <a:prstGeom prst="rect">
            <a:avLst/>
          </a:prstGeom>
        </p:spPr>
      </p:pic>
      <p:sp>
        <p:nvSpPr>
          <p:cNvPr id="16" name="Family label"/>
          <p:cNvSpPr txBox="1"/>
          <p:nvPr/>
        </p:nvSpPr>
        <p:spPr>
          <a:xfrm>
            <a:off x="1737360" y="941831"/>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1E2A30"/>
                </a:solidFill>
                <a:latin typeface="Times New Roman"/>
                <a:ea typeface="Times New Roman"/>
                <a:cs typeface="Times New Roman"/>
              </a:rPr>
              <a:t>Family</a:t>
            </a:r>
          </a:p>
        </p:txBody>
      </p:sp>
      <p:sp>
        <p:nvSpPr>
          <p:cNvPr id="17" name="Oval 16"/>
          <p:cNvSpPr/>
          <p:nvPr/>
        </p:nvSpPr>
        <p:spPr>
          <a:xfrm>
            <a:off x="3177900" y="2068462"/>
            <a:ext cx="603504" cy="603504"/>
          </a:xfrm>
          <a:prstGeom prst="ellipse">
            <a:avLst/>
          </a:prstGeom>
          <a:solidFill>
            <a:srgbClr val="2B6F8E"/>
          </a:solidFill>
          <a:ln>
            <a:noFill/>
          </a:ln>
        </p:spPr>
        <p:txBody>
          <a:bodyPr rtlCol="0" anchor="ctr"/>
          <a:lstStyle/>
          <a:p>
            <a:pPr algn="ctr"/>
          </a:p>
        </p:txBody>
      </p:sp>
      <p:pic>
        <p:nvPicPr>
          <p:cNvPr id="18" name="Icon E7BE" descr="image.png"/>
          <p:cNvPicPr>
            <a:picLocks noChangeAspect="1"/>
          </p:cNvPicPr>
          <p:nvPr/>
        </p:nvPicPr>
        <p:blipFill>
          <a:blip r:embed="rId4"/>
          <a:stretch>
            <a:fillRect/>
          </a:stretch>
        </p:blipFill>
        <p:spPr>
          <a:xfrm>
            <a:off x="3310671" y="2201232"/>
            <a:ext cx="337962" cy="337962"/>
          </a:xfrm>
          <a:prstGeom prst="rect">
            <a:avLst/>
          </a:prstGeom>
        </p:spPr>
      </p:pic>
      <p:sp>
        <p:nvSpPr>
          <p:cNvPr id="19" name="Education label"/>
          <p:cNvSpPr txBox="1"/>
          <p:nvPr/>
        </p:nvSpPr>
        <p:spPr>
          <a:xfrm>
            <a:off x="2885292" y="2708542"/>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1E2A30"/>
                </a:solidFill>
                <a:latin typeface="Times New Roman"/>
                <a:ea typeface="Times New Roman"/>
                <a:cs typeface="Times New Roman"/>
              </a:rPr>
              <a:t>Education</a:t>
            </a:r>
          </a:p>
        </p:txBody>
      </p:sp>
      <p:sp>
        <p:nvSpPr>
          <p:cNvPr id="20" name="Oval 19"/>
          <p:cNvSpPr/>
          <p:nvPr/>
        </p:nvSpPr>
        <p:spPr>
          <a:xfrm>
            <a:off x="2739429" y="3417937"/>
            <a:ext cx="603504" cy="603504"/>
          </a:xfrm>
          <a:prstGeom prst="ellipse">
            <a:avLst/>
          </a:prstGeom>
          <a:solidFill>
            <a:srgbClr val="3B7F52"/>
          </a:solidFill>
          <a:ln>
            <a:noFill/>
          </a:ln>
        </p:spPr>
        <p:txBody>
          <a:bodyPr rtlCol="0" anchor="ctr"/>
          <a:lstStyle/>
          <a:p>
            <a:pPr algn="ctr"/>
          </a:p>
        </p:txBody>
      </p:sp>
      <p:pic>
        <p:nvPicPr>
          <p:cNvPr id="21" name="Icon E708" descr="image.png"/>
          <p:cNvPicPr>
            <a:picLocks noChangeAspect="1"/>
          </p:cNvPicPr>
          <p:nvPr/>
        </p:nvPicPr>
        <p:blipFill>
          <a:blip r:embed="rId5"/>
          <a:stretch>
            <a:fillRect/>
          </a:stretch>
        </p:blipFill>
        <p:spPr>
          <a:xfrm>
            <a:off x="2872200" y="3550708"/>
            <a:ext cx="337962" cy="337962"/>
          </a:xfrm>
          <a:prstGeom prst="rect">
            <a:avLst/>
          </a:prstGeom>
        </p:spPr>
      </p:pic>
      <p:sp>
        <p:nvSpPr>
          <p:cNvPr id="22" name="Religion label"/>
          <p:cNvSpPr txBox="1"/>
          <p:nvPr/>
        </p:nvSpPr>
        <p:spPr>
          <a:xfrm>
            <a:off x="2446821" y="4058017"/>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1E2A30"/>
                </a:solidFill>
                <a:latin typeface="Times New Roman"/>
                <a:ea typeface="Times New Roman"/>
                <a:cs typeface="Times New Roman"/>
              </a:rPr>
              <a:t>Religion</a:t>
            </a:r>
          </a:p>
        </p:txBody>
      </p:sp>
      <p:sp>
        <p:nvSpPr>
          <p:cNvPr id="23" name="Oval 22"/>
          <p:cNvSpPr/>
          <p:nvPr/>
        </p:nvSpPr>
        <p:spPr>
          <a:xfrm>
            <a:off x="1320506" y="3417937"/>
            <a:ext cx="603504" cy="603504"/>
          </a:xfrm>
          <a:prstGeom prst="ellipse">
            <a:avLst/>
          </a:prstGeom>
          <a:solidFill>
            <a:srgbClr val="8F6516"/>
          </a:solidFill>
          <a:ln>
            <a:noFill/>
          </a:ln>
        </p:spPr>
        <p:txBody>
          <a:bodyPr rtlCol="0" anchor="ctr"/>
          <a:lstStyle/>
          <a:p>
            <a:pPr algn="ctr"/>
          </a:p>
        </p:txBody>
      </p:sp>
      <p:pic>
        <p:nvPicPr>
          <p:cNvPr id="24" name="Icon EAFC" descr="image.png"/>
          <p:cNvPicPr>
            <a:picLocks noChangeAspect="1"/>
          </p:cNvPicPr>
          <p:nvPr/>
        </p:nvPicPr>
        <p:blipFill>
          <a:blip r:embed="rId6"/>
          <a:stretch>
            <a:fillRect/>
          </a:stretch>
        </p:blipFill>
        <p:spPr>
          <a:xfrm>
            <a:off x="1453277" y="3550708"/>
            <a:ext cx="337962" cy="337962"/>
          </a:xfrm>
          <a:prstGeom prst="rect">
            <a:avLst/>
          </a:prstGeom>
        </p:spPr>
      </p:pic>
      <p:sp>
        <p:nvSpPr>
          <p:cNvPr id="25" name="Economy label"/>
          <p:cNvSpPr txBox="1"/>
          <p:nvPr/>
        </p:nvSpPr>
        <p:spPr>
          <a:xfrm>
            <a:off x="1027898" y="4058017"/>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1E2A30"/>
                </a:solidFill>
                <a:latin typeface="Times New Roman"/>
                <a:ea typeface="Times New Roman"/>
                <a:cs typeface="Times New Roman"/>
              </a:rPr>
              <a:t>Economy</a:t>
            </a:r>
          </a:p>
        </p:txBody>
      </p:sp>
      <p:sp>
        <p:nvSpPr>
          <p:cNvPr id="26" name="Oval 25"/>
          <p:cNvSpPr/>
          <p:nvPr/>
        </p:nvSpPr>
        <p:spPr>
          <a:xfrm>
            <a:off x="882035" y="2068462"/>
            <a:ext cx="603504" cy="603504"/>
          </a:xfrm>
          <a:prstGeom prst="ellipse">
            <a:avLst/>
          </a:prstGeom>
          <a:solidFill>
            <a:srgbClr val="5E4785"/>
          </a:solidFill>
          <a:ln>
            <a:noFill/>
          </a:ln>
        </p:spPr>
        <p:txBody>
          <a:bodyPr rtlCol="0" anchor="ctr"/>
          <a:lstStyle/>
          <a:p>
            <a:pPr algn="ctr"/>
          </a:p>
        </p:txBody>
      </p:sp>
      <p:pic>
        <p:nvPicPr>
          <p:cNvPr id="27" name="Icon E825" descr="image.png"/>
          <p:cNvPicPr>
            <a:picLocks noChangeAspect="1"/>
          </p:cNvPicPr>
          <p:nvPr/>
        </p:nvPicPr>
        <p:blipFill>
          <a:blip r:embed="rId7"/>
          <a:stretch>
            <a:fillRect/>
          </a:stretch>
        </p:blipFill>
        <p:spPr>
          <a:xfrm>
            <a:off x="1014806" y="2201232"/>
            <a:ext cx="337962" cy="337962"/>
          </a:xfrm>
          <a:prstGeom prst="rect">
            <a:avLst/>
          </a:prstGeom>
        </p:spPr>
      </p:pic>
      <p:sp>
        <p:nvSpPr>
          <p:cNvPr id="28" name="Political label"/>
          <p:cNvSpPr txBox="1"/>
          <p:nvPr/>
        </p:nvSpPr>
        <p:spPr>
          <a:xfrm>
            <a:off x="589427" y="2708542"/>
            <a:ext cx="1188720" cy="256032"/>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1" i="0">
                <a:solidFill>
                  <a:srgbClr val="1E2A30"/>
                </a:solidFill>
                <a:latin typeface="Times New Roman"/>
                <a:ea typeface="Times New Roman"/>
                <a:cs typeface="Times New Roman"/>
              </a:rPr>
              <a:t>Political</a:t>
            </a:r>
          </a:p>
        </p:txBody>
      </p:sp>
      <p:sp>
        <p:nvSpPr>
          <p:cNvPr id="29" name="TextBox 28"/>
          <p:cNvSpPr txBox="1"/>
          <p:nvPr/>
        </p:nvSpPr>
        <p:spPr>
          <a:xfrm>
            <a:off x="4572000" y="914400"/>
            <a:ext cx="4114800" cy="27432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200" b="1" i="0">
                <a:solidFill>
                  <a:srgbClr val="14323F"/>
                </a:solidFill>
                <a:latin typeface="Times New Roman"/>
                <a:ea typeface="Times New Roman"/>
                <a:cs typeface="Times New Roman"/>
              </a:rPr>
              <a:t>Institutions depend on each other</a:t>
            </a:r>
          </a:p>
        </p:txBody>
      </p:sp>
      <p:sp>
        <p:nvSpPr>
          <p:cNvPr id="30" name="Rounded Rectangle 29"/>
          <p:cNvSpPr/>
          <p:nvPr/>
        </p:nvSpPr>
        <p:spPr>
          <a:xfrm>
            <a:off x="4572000" y="1280160"/>
            <a:ext cx="4114800" cy="713232"/>
          </a:xfrm>
          <a:prstGeom prst="roundRect">
            <a:avLst>
              <a:gd name="adj" fmla="val 12820"/>
            </a:avLst>
          </a:prstGeom>
          <a:solidFill>
            <a:srgbClr val="E9F2F3"/>
          </a:solidFill>
          <a:ln>
            <a:noFill/>
          </a:ln>
        </p:spPr>
        <p:txBody>
          <a:bodyPr rtlCol="0" anchor="ctr"/>
          <a:lstStyle/>
          <a:p>
            <a:pPr algn="ctr"/>
          </a:p>
        </p:txBody>
      </p:sp>
      <p:sp>
        <p:nvSpPr>
          <p:cNvPr id="31" name="TextBox 30"/>
          <p:cNvSpPr txBox="1"/>
          <p:nvPr/>
        </p:nvSpPr>
        <p:spPr>
          <a:xfrm>
            <a:off x="4736592" y="1280160"/>
            <a:ext cx="3840480" cy="713232"/>
          </a:xfrm>
          <a:prstGeom prst="rect">
            <a:avLst/>
          </a:prstGeom>
          <a:noFill/>
        </p:spPr>
        <p:txBody>
          <a:bodyPr wrap="square" lIns="0" rIns="0" tIns="0" bIns="0" anchor="ctr">
            <a:noAutofit/>
          </a:bodyPr>
          <a:lstStyle/>
          <a:p>
            <a:pPr algn="l" marL="0" indent="0">
              <a:lnSpc>
                <a:spcPct val="100000"/>
              </a:lnSpc>
              <a:spcBef>
                <a:spcPts val="0"/>
              </a:spcBef>
              <a:spcAft>
                <a:spcPts val="200"/>
              </a:spcAft>
              <a:buNone/>
            </a:pPr>
            <a:r>
              <a:rPr sz="1100" b="1" i="0">
                <a:solidFill>
                  <a:srgbClr val="8F6516"/>
                </a:solidFill>
                <a:latin typeface="Times New Roman"/>
                <a:ea typeface="Times New Roman"/>
                <a:cs typeface="Times New Roman"/>
              </a:rPr>
              <a:t>Economy</a:t>
            </a:r>
            <a:r>
              <a:rPr sz="1100" b="1" i="0">
                <a:solidFill>
                  <a:srgbClr val="56646B"/>
                </a:solidFill>
                <a:latin typeface="Times New Roman"/>
                <a:ea typeface="Times New Roman"/>
                <a:cs typeface="Times New Roman"/>
              </a:rPr>
              <a:t>  →  </a:t>
            </a:r>
            <a:r>
              <a:rPr sz="1100" b="1" i="0">
                <a:solidFill>
                  <a:srgbClr val="C2553F"/>
                </a:solidFill>
                <a:latin typeface="Times New Roman"/>
                <a:ea typeface="Times New Roman"/>
                <a:cs typeface="Times New Roman"/>
              </a:rPr>
              <a:t>Family</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Family income decides housing, diet and schooling.</a:t>
            </a:r>
          </a:p>
        </p:txBody>
      </p:sp>
      <p:sp>
        <p:nvSpPr>
          <p:cNvPr id="32" name="Rounded Rectangle 31"/>
          <p:cNvSpPr/>
          <p:nvPr/>
        </p:nvSpPr>
        <p:spPr>
          <a:xfrm>
            <a:off x="4572000" y="2103120"/>
            <a:ext cx="4114800" cy="713232"/>
          </a:xfrm>
          <a:prstGeom prst="roundRect">
            <a:avLst>
              <a:gd name="adj" fmla="val 12820"/>
            </a:avLst>
          </a:prstGeom>
          <a:solidFill>
            <a:srgbClr val="E9F2F3"/>
          </a:solidFill>
          <a:ln>
            <a:noFill/>
          </a:ln>
        </p:spPr>
        <p:txBody>
          <a:bodyPr rtlCol="0" anchor="ctr"/>
          <a:lstStyle/>
          <a:p>
            <a:pPr algn="ctr"/>
          </a:p>
        </p:txBody>
      </p:sp>
      <p:sp>
        <p:nvSpPr>
          <p:cNvPr id="33" name="TextBox 32"/>
          <p:cNvSpPr txBox="1"/>
          <p:nvPr/>
        </p:nvSpPr>
        <p:spPr>
          <a:xfrm>
            <a:off x="4736592" y="2103120"/>
            <a:ext cx="3840480" cy="713232"/>
          </a:xfrm>
          <a:prstGeom prst="rect">
            <a:avLst/>
          </a:prstGeom>
          <a:noFill/>
        </p:spPr>
        <p:txBody>
          <a:bodyPr wrap="square" lIns="0" rIns="0" tIns="0" bIns="0" anchor="ctr">
            <a:noAutofit/>
          </a:bodyPr>
          <a:lstStyle/>
          <a:p>
            <a:pPr algn="l" marL="0" indent="0">
              <a:lnSpc>
                <a:spcPct val="100000"/>
              </a:lnSpc>
              <a:spcBef>
                <a:spcPts val="0"/>
              </a:spcBef>
              <a:spcAft>
                <a:spcPts val="200"/>
              </a:spcAft>
              <a:buNone/>
            </a:pPr>
            <a:r>
              <a:rPr sz="1100" b="1" i="0">
                <a:solidFill>
                  <a:srgbClr val="5E4785"/>
                </a:solidFill>
                <a:latin typeface="Times New Roman"/>
                <a:ea typeface="Times New Roman"/>
                <a:cs typeface="Times New Roman"/>
              </a:rPr>
              <a:t>Political</a:t>
            </a:r>
            <a:r>
              <a:rPr sz="1100" b="1" i="0">
                <a:solidFill>
                  <a:srgbClr val="56646B"/>
                </a:solidFill>
                <a:latin typeface="Times New Roman"/>
                <a:ea typeface="Times New Roman"/>
                <a:cs typeface="Times New Roman"/>
              </a:rPr>
              <a:t>  →  </a:t>
            </a:r>
            <a:r>
              <a:rPr sz="1100" b="1" i="0">
                <a:solidFill>
                  <a:srgbClr val="2B6F8E"/>
                </a:solidFill>
                <a:latin typeface="Times New Roman"/>
                <a:ea typeface="Times New Roman"/>
                <a:cs typeface="Times New Roman"/>
              </a:rPr>
              <a:t>Education</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The government funds schools and sets the national curriculum.</a:t>
            </a:r>
          </a:p>
        </p:txBody>
      </p:sp>
      <p:sp>
        <p:nvSpPr>
          <p:cNvPr id="34" name="Rounded Rectangle 33"/>
          <p:cNvSpPr/>
          <p:nvPr/>
        </p:nvSpPr>
        <p:spPr>
          <a:xfrm>
            <a:off x="4572000" y="2926080"/>
            <a:ext cx="4114800" cy="713232"/>
          </a:xfrm>
          <a:prstGeom prst="roundRect">
            <a:avLst>
              <a:gd name="adj" fmla="val 12820"/>
            </a:avLst>
          </a:prstGeom>
          <a:solidFill>
            <a:srgbClr val="E9F2F3"/>
          </a:solidFill>
          <a:ln>
            <a:noFill/>
          </a:ln>
        </p:spPr>
        <p:txBody>
          <a:bodyPr rtlCol="0" anchor="ctr"/>
          <a:lstStyle/>
          <a:p>
            <a:pPr algn="ctr"/>
          </a:p>
        </p:txBody>
      </p:sp>
      <p:sp>
        <p:nvSpPr>
          <p:cNvPr id="35" name="TextBox 34"/>
          <p:cNvSpPr txBox="1"/>
          <p:nvPr/>
        </p:nvSpPr>
        <p:spPr>
          <a:xfrm>
            <a:off x="4736592" y="2926080"/>
            <a:ext cx="3840480" cy="713232"/>
          </a:xfrm>
          <a:prstGeom prst="rect">
            <a:avLst/>
          </a:prstGeom>
          <a:noFill/>
        </p:spPr>
        <p:txBody>
          <a:bodyPr wrap="square" lIns="0" rIns="0" tIns="0" bIns="0" anchor="ctr">
            <a:noAutofit/>
          </a:bodyPr>
          <a:lstStyle/>
          <a:p>
            <a:pPr algn="l" marL="0" indent="0">
              <a:lnSpc>
                <a:spcPct val="100000"/>
              </a:lnSpc>
              <a:spcBef>
                <a:spcPts val="0"/>
              </a:spcBef>
              <a:spcAft>
                <a:spcPts val="200"/>
              </a:spcAft>
              <a:buNone/>
            </a:pPr>
            <a:r>
              <a:rPr sz="1100" b="1" i="0">
                <a:solidFill>
                  <a:srgbClr val="3B7F52"/>
                </a:solidFill>
                <a:latin typeface="Times New Roman"/>
                <a:ea typeface="Times New Roman"/>
                <a:cs typeface="Times New Roman"/>
              </a:rPr>
              <a:t>Religion</a:t>
            </a:r>
            <a:r>
              <a:rPr sz="1100" b="1" i="0">
                <a:solidFill>
                  <a:srgbClr val="56646B"/>
                </a:solidFill>
                <a:latin typeface="Times New Roman"/>
                <a:ea typeface="Times New Roman"/>
                <a:cs typeface="Times New Roman"/>
              </a:rPr>
              <a:t>  →  </a:t>
            </a:r>
            <a:r>
              <a:rPr sz="1100" b="1" i="0">
                <a:solidFill>
                  <a:srgbClr val="C2553F"/>
                </a:solidFill>
                <a:latin typeface="Times New Roman"/>
                <a:ea typeface="Times New Roman"/>
                <a:cs typeface="Times New Roman"/>
              </a:rPr>
              <a:t>Family</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Religious values shape marriage, inheritance and family roles.</a:t>
            </a:r>
          </a:p>
        </p:txBody>
      </p:sp>
      <p:sp>
        <p:nvSpPr>
          <p:cNvPr id="36" name="Rounded Rectangle 35"/>
          <p:cNvSpPr/>
          <p:nvPr/>
        </p:nvSpPr>
        <p:spPr>
          <a:xfrm>
            <a:off x="4572000" y="3749039"/>
            <a:ext cx="4114800" cy="713232"/>
          </a:xfrm>
          <a:prstGeom prst="roundRect">
            <a:avLst>
              <a:gd name="adj" fmla="val 12820"/>
            </a:avLst>
          </a:prstGeom>
          <a:solidFill>
            <a:srgbClr val="E9F2F3"/>
          </a:solidFill>
          <a:ln>
            <a:noFill/>
          </a:ln>
        </p:spPr>
        <p:txBody>
          <a:bodyPr rtlCol="0" anchor="ctr"/>
          <a:lstStyle/>
          <a:p>
            <a:pPr algn="ctr"/>
          </a:p>
        </p:txBody>
      </p:sp>
      <p:sp>
        <p:nvSpPr>
          <p:cNvPr id="37" name="TextBox 36"/>
          <p:cNvSpPr txBox="1"/>
          <p:nvPr/>
        </p:nvSpPr>
        <p:spPr>
          <a:xfrm>
            <a:off x="4736592" y="3749039"/>
            <a:ext cx="3840480" cy="713232"/>
          </a:xfrm>
          <a:prstGeom prst="rect">
            <a:avLst/>
          </a:prstGeom>
          <a:noFill/>
        </p:spPr>
        <p:txBody>
          <a:bodyPr wrap="square" lIns="0" rIns="0" tIns="0" bIns="0" anchor="ctr">
            <a:noAutofit/>
          </a:bodyPr>
          <a:lstStyle/>
          <a:p>
            <a:pPr algn="l" marL="0" indent="0">
              <a:lnSpc>
                <a:spcPct val="100000"/>
              </a:lnSpc>
              <a:spcBef>
                <a:spcPts val="0"/>
              </a:spcBef>
              <a:spcAft>
                <a:spcPts val="200"/>
              </a:spcAft>
              <a:buNone/>
            </a:pPr>
            <a:r>
              <a:rPr sz="1100" b="1" i="0">
                <a:solidFill>
                  <a:srgbClr val="2B6F8E"/>
                </a:solidFill>
                <a:latin typeface="Times New Roman"/>
                <a:ea typeface="Times New Roman"/>
                <a:cs typeface="Times New Roman"/>
              </a:rPr>
              <a:t>Education</a:t>
            </a:r>
            <a:r>
              <a:rPr sz="1100" b="1" i="0">
                <a:solidFill>
                  <a:srgbClr val="56646B"/>
                </a:solidFill>
                <a:latin typeface="Times New Roman"/>
                <a:ea typeface="Times New Roman"/>
                <a:cs typeface="Times New Roman"/>
              </a:rPr>
              <a:t>  →  </a:t>
            </a:r>
            <a:r>
              <a:rPr sz="1100" b="1" i="0">
                <a:solidFill>
                  <a:srgbClr val="8F6516"/>
                </a:solidFill>
                <a:latin typeface="Times New Roman"/>
                <a:ea typeface="Times New Roman"/>
                <a:cs typeface="Times New Roman"/>
              </a:rPr>
              <a:t>Economy</a:t>
            </a:r>
          </a:p>
          <a:p>
            <a:pPr algn="l" marL="0" indent="0">
              <a:lnSpc>
                <a:spcPct val="100000"/>
              </a:lnSpc>
              <a:spcBef>
                <a:spcPts val="0"/>
              </a:spcBef>
              <a:spcAft>
                <a:spcPts val="0"/>
              </a:spcAft>
              <a:buNone/>
            </a:pPr>
            <a:r>
              <a:rPr sz="1100" b="0" i="0">
                <a:solidFill>
                  <a:srgbClr val="1E2A30"/>
                </a:solidFill>
                <a:latin typeface="Times New Roman"/>
                <a:ea typeface="Times New Roman"/>
                <a:cs typeface="Times New Roman"/>
              </a:rPr>
              <a:t>Schools and universities prepare the skilled workforce.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Social Institutions in Pakistan</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7C1"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15</a:t>
            </a:r>
          </a:p>
        </p:txBody>
      </p:sp>
      <p:graphicFrame>
        <p:nvGraphicFramePr>
          <p:cNvPr id="7" name="Table 6"/>
          <p:cNvGraphicFramePr>
            <a:graphicFrameLocks noGrp="1"/>
          </p:cNvGraphicFramePr>
          <p:nvPr/>
        </p:nvGraphicFramePr>
        <p:xfrm>
          <a:off x="457200" y="960120"/>
          <a:ext cx="8229600" cy="3584448"/>
        </p:xfrm>
        <a:graphic>
          <a:graphicData uri="http://schemas.openxmlformats.org/drawingml/2006/table">
            <a:tbl>
              <a:tblPr firstRow="0" bandRow="0">
                <a:tableStyleId>{5940675A-B579-460E-94D1-54222C63F5DA}</a:tableStyleId>
              </a:tblPr>
              <a:tblGrid>
                <a:gridCol w="1645920"/>
                <a:gridCol w="6583680"/>
              </a:tblGrid>
              <a:tr h="384048">
                <a:tc>
                  <a:txBody>
                    <a:bodyPr wrap="square"/>
                    <a:lstStyle/>
                    <a:p>
                      <a:pPr algn="l">
                        <a:spcAft>
                          <a:spcPts val="0"/>
                        </a:spcAft>
                      </a:pPr>
                      <a:r>
                        <a:rPr sz="1200" b="1" i="0">
                          <a:solidFill>
                            <a:srgbClr val="FFFFFF"/>
                          </a:solidFill>
                          <a:latin typeface="Times New Roman"/>
                        </a:rPr>
                        <a:t>Institution</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14323F"/>
                    </a:solidFill>
                  </a:tcPr>
                </a:tc>
                <a:tc>
                  <a:txBody>
                    <a:bodyPr wrap="square"/>
                    <a:lstStyle/>
                    <a:p>
                      <a:pPr algn="l">
                        <a:spcAft>
                          <a:spcPts val="0"/>
                        </a:spcAft>
                      </a:pPr>
                      <a:r>
                        <a:rPr sz="1200" b="1" i="0">
                          <a:solidFill>
                            <a:srgbClr val="FFFFFF"/>
                          </a:solidFill>
                          <a:latin typeface="Times New Roman"/>
                        </a:rPr>
                        <a:t>Key features in Pakistan</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14323F"/>
                    </a:solidFill>
                  </a:tcPr>
                </a:tc>
              </a:tr>
              <a:tr h="640080">
                <a:tc>
                  <a:txBody>
                    <a:bodyPr wrap="square"/>
                    <a:lstStyle/>
                    <a:p>
                      <a:pPr algn="l">
                        <a:spcAft>
                          <a:spcPts val="0"/>
                        </a:spcAft>
                      </a:pPr>
                      <a:r>
                        <a:rPr sz="1200" b="1" i="0">
                          <a:solidFill>
                            <a:srgbClr val="FFFFFF"/>
                          </a:solidFill>
                          <a:latin typeface="Times New Roman"/>
                        </a:rPr>
                        <a:t>Family</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C2553F"/>
                    </a:solidFill>
                  </a:tcPr>
                </a:tc>
                <a:tc>
                  <a:txBody>
                    <a:bodyPr wrap="square"/>
                    <a:lstStyle/>
                    <a:p>
                      <a:pPr algn="l">
                        <a:spcAft>
                          <a:spcPts val="0"/>
                        </a:spcAft>
                      </a:pPr>
                      <a:r>
                        <a:rPr sz="1100" b="0" i="0">
                          <a:solidFill>
                            <a:srgbClr val="1E2A30"/>
                          </a:solidFill>
                          <a:latin typeface="Times New Roman"/>
                        </a:rPr>
                        <a:t>Joint and extended families are common, especially in rural areas; strong kinship (biradari) ties; elders hold authority.</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F8E9E5"/>
                    </a:solidFill>
                  </a:tcPr>
                </a:tc>
              </a:tr>
              <a:tr h="640080">
                <a:tc>
                  <a:txBody>
                    <a:bodyPr wrap="square"/>
                    <a:lstStyle/>
                    <a:p>
                      <a:pPr algn="l">
                        <a:spcAft>
                          <a:spcPts val="0"/>
                        </a:spcAft>
                      </a:pPr>
                      <a:r>
                        <a:rPr sz="1200" b="1" i="0">
                          <a:solidFill>
                            <a:srgbClr val="FFFFFF"/>
                          </a:solidFill>
                          <a:latin typeface="Times New Roman"/>
                        </a:rPr>
                        <a:t>Education</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2B6F8E"/>
                    </a:solidFill>
                  </a:tcPr>
                </a:tc>
                <a:tc>
                  <a:txBody>
                    <a:bodyPr wrap="square"/>
                    <a:lstStyle/>
                    <a:p>
                      <a:pPr algn="l">
                        <a:spcAft>
                          <a:spcPts val="0"/>
                        </a:spcAft>
                      </a:pPr>
                      <a:r>
                        <a:rPr sz="1100" b="0" i="0">
                          <a:solidFill>
                            <a:srgbClr val="1E2A30"/>
                          </a:solidFill>
                          <a:latin typeface="Times New Roman"/>
                        </a:rPr>
                        <a:t>Three parallel streams: public schools, private schools and religious madrassas; improving literacy remains a major challenge.</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E5F0F5"/>
                    </a:solidFill>
                  </a:tcPr>
                </a:tc>
              </a:tr>
              <a:tr h="640080">
                <a:tc>
                  <a:txBody>
                    <a:bodyPr wrap="square"/>
                    <a:lstStyle/>
                    <a:p>
                      <a:pPr algn="l">
                        <a:spcAft>
                          <a:spcPts val="0"/>
                        </a:spcAft>
                      </a:pPr>
                      <a:r>
                        <a:rPr sz="1200" b="1" i="0">
                          <a:solidFill>
                            <a:srgbClr val="FFFFFF"/>
                          </a:solidFill>
                          <a:latin typeface="Times New Roman"/>
                        </a:rPr>
                        <a:t>Religion</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3B7F52"/>
                    </a:solidFill>
                  </a:tcPr>
                </a:tc>
                <a:tc>
                  <a:txBody>
                    <a:bodyPr wrap="square"/>
                    <a:lstStyle/>
                    <a:p>
                      <a:pPr algn="l">
                        <a:spcAft>
                          <a:spcPts val="0"/>
                        </a:spcAft>
                      </a:pPr>
                      <a:r>
                        <a:rPr sz="1100" b="0" i="0">
                          <a:solidFill>
                            <a:srgbClr val="1E2A30"/>
                          </a:solidFill>
                          <a:latin typeface="Times New Roman"/>
                        </a:rPr>
                        <a:t>Islam is the state religion and shapes laws, festivals and daily life; the Constitution protects the rights of minorities.</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E7F2EA"/>
                    </a:solidFill>
                  </a:tcPr>
                </a:tc>
              </a:tr>
              <a:tr h="640080">
                <a:tc>
                  <a:txBody>
                    <a:bodyPr wrap="square"/>
                    <a:lstStyle/>
                    <a:p>
                      <a:pPr algn="l">
                        <a:spcAft>
                          <a:spcPts val="0"/>
                        </a:spcAft>
                      </a:pPr>
                      <a:r>
                        <a:rPr sz="1200" b="1" i="0">
                          <a:solidFill>
                            <a:srgbClr val="FFFFFF"/>
                          </a:solidFill>
                          <a:latin typeface="Times New Roman"/>
                        </a:rPr>
                        <a:t>Economy</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8F6516"/>
                    </a:solidFill>
                  </a:tcPr>
                </a:tc>
                <a:tc>
                  <a:txBody>
                    <a:bodyPr wrap="square"/>
                    <a:lstStyle/>
                    <a:p>
                      <a:pPr algn="l">
                        <a:spcAft>
                          <a:spcPts val="0"/>
                        </a:spcAft>
                      </a:pPr>
                      <a:r>
                        <a:rPr sz="1100" b="0" i="0">
                          <a:solidFill>
                            <a:srgbClr val="1E2A30"/>
                          </a:solidFill>
                          <a:latin typeface="Times New Roman"/>
                        </a:rPr>
                        <a:t>A mixed economy; agriculture, textiles and remittances from overseas workers are important, with a large informal sector.</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F8F0DE"/>
                    </a:solidFill>
                  </a:tcPr>
                </a:tc>
              </a:tr>
              <a:tr h="640080">
                <a:tc>
                  <a:txBody>
                    <a:bodyPr wrap="square"/>
                    <a:lstStyle/>
                    <a:p>
                      <a:pPr algn="l">
                        <a:spcAft>
                          <a:spcPts val="0"/>
                        </a:spcAft>
                      </a:pPr>
                      <a:r>
                        <a:rPr sz="1200" b="1" i="0">
                          <a:solidFill>
                            <a:srgbClr val="FFFFFF"/>
                          </a:solidFill>
                          <a:latin typeface="Times New Roman"/>
                        </a:rPr>
                        <a:t>Political</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5E4785"/>
                    </a:solidFill>
                  </a:tcPr>
                </a:tc>
                <a:tc>
                  <a:txBody>
                    <a:bodyPr wrap="square"/>
                    <a:lstStyle/>
                    <a:p>
                      <a:pPr algn="l">
                        <a:spcAft>
                          <a:spcPts val="0"/>
                        </a:spcAft>
                      </a:pPr>
                      <a:r>
                        <a:rPr sz="1100" b="0" i="0">
                          <a:solidFill>
                            <a:srgbClr val="1E2A30"/>
                          </a:solidFill>
                          <a:latin typeface="Times New Roman"/>
                        </a:rPr>
                        <a:t>A federal parliamentary republic under the Constitution of 1973, with an elected parliament and four provinces.</a:t>
                      </a:r>
                    </a:p>
                  </a:txBody>
                  <a:tcPr marL="91440" marR="91440" marT="45720" marB="45720" anchor="ctr">
                    <a:lnL w="19050">
                      <a:solidFill>
                        <a:srgbClr val="FFFFFF"/>
                      </a:solidFill>
                    </a:lnL>
                    <a:lnR w="19050">
                      <a:solidFill>
                        <a:srgbClr val="FFFFFF"/>
                      </a:solidFill>
                    </a:lnR>
                    <a:lnT w="19050">
                      <a:solidFill>
                        <a:srgbClr val="FFFFFF"/>
                      </a:solidFill>
                    </a:lnT>
                    <a:lnB w="19050">
                      <a:solidFill>
                        <a:srgbClr val="FFFFFF"/>
                      </a:solidFill>
                    </a:lnB>
                    <a:solidFill>
                      <a:srgbClr val="EEEAF4"/>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323F"/>
        </a:solidFill>
        <a:effectLst/>
      </p:bgPr>
    </p:bg>
    <p:spTree>
      <p:nvGrpSpPr>
        <p:cNvPr id="1" name=""/>
        <p:cNvGrpSpPr/>
        <p:nvPr/>
      </p:nvGrpSpPr>
      <p:grpSpPr/>
      <p:sp>
        <p:nvSpPr>
          <p:cNvPr id="2" name="Title"/>
          <p:cNvSpPr>
            <a:spLocks noGrp="1"/>
          </p:cNvSpPr>
          <p:nvPr>
            <p:ph type="title"/>
          </p:nvPr>
        </p:nvSpPr>
        <p:spPr>
          <a:xfrm>
            <a:off x="1051560" y="502920"/>
            <a:ext cx="548640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FFFFFF"/>
                </a:solidFill>
                <a:latin typeface="Times New Roman"/>
                <a:ea typeface="Times New Roman"/>
                <a:cs typeface="Times New Roman"/>
              </a:rPr>
              <a:t>Conclusion</a:t>
            </a:r>
          </a:p>
        </p:txBody>
      </p:sp>
      <p:sp>
        <p:nvSpPr>
          <p:cNvPr id="3" name="Oval 2"/>
          <p:cNvSpPr/>
          <p:nvPr/>
        </p:nvSpPr>
        <p:spPr>
          <a:xfrm>
            <a:off x="548640" y="502920"/>
            <a:ext cx="384048" cy="384048"/>
          </a:xfrm>
          <a:prstGeom prst="ellipse">
            <a:avLst/>
          </a:prstGeom>
          <a:solidFill>
            <a:srgbClr val="E3A23B"/>
          </a:solidFill>
          <a:ln>
            <a:noFill/>
          </a:ln>
        </p:spPr>
        <p:txBody>
          <a:bodyPr rtlCol="0" anchor="ctr"/>
          <a:lstStyle/>
          <a:p>
            <a:pPr algn="ctr"/>
          </a:p>
        </p:txBody>
      </p:sp>
      <p:pic>
        <p:nvPicPr>
          <p:cNvPr id="4" name="Icon E73E" descr="image.png"/>
          <p:cNvPicPr>
            <a:picLocks noChangeAspect="1"/>
          </p:cNvPicPr>
          <p:nvPr/>
        </p:nvPicPr>
        <p:blipFill>
          <a:blip r:embed="rId2"/>
          <a:stretch>
            <a:fillRect/>
          </a:stretch>
        </p:blipFill>
        <p:spPr>
          <a:xfrm>
            <a:off x="633130" y="587410"/>
            <a:ext cx="215066" cy="215066"/>
          </a:xfrm>
          <a:prstGeom prst="rect">
            <a:avLst/>
          </a:prstGeom>
        </p:spPr>
      </p:pic>
      <p:sp>
        <p:nvSpPr>
          <p:cNvPr id="5" name="Rounded Rectangle 4"/>
          <p:cNvSpPr/>
          <p:nvPr/>
        </p:nvSpPr>
        <p:spPr>
          <a:xfrm>
            <a:off x="548640" y="1280160"/>
            <a:ext cx="2560320" cy="1965960"/>
          </a:xfrm>
          <a:prstGeom prst="roundRect">
            <a:avLst>
              <a:gd name="adj" fmla="val 5581"/>
            </a:avLst>
          </a:prstGeom>
          <a:solidFill>
            <a:srgbClr val="1F4656"/>
          </a:solidFill>
          <a:ln>
            <a:noFill/>
          </a:ln>
        </p:spPr>
        <p:txBody>
          <a:bodyPr rtlCol="0" anchor="ctr"/>
          <a:lstStyle/>
          <a:p>
            <a:pPr algn="ctr"/>
          </a:p>
        </p:txBody>
      </p:sp>
      <p:sp>
        <p:nvSpPr>
          <p:cNvPr id="6" name="Oval 5"/>
          <p:cNvSpPr/>
          <p:nvPr/>
        </p:nvSpPr>
        <p:spPr>
          <a:xfrm>
            <a:off x="749808" y="1481328"/>
            <a:ext cx="420624" cy="420624"/>
          </a:xfrm>
          <a:prstGeom prst="ellipse">
            <a:avLst/>
          </a:prstGeom>
          <a:solidFill>
            <a:srgbClr val="E3A23B"/>
          </a:solidFill>
          <a:ln>
            <a:noFill/>
          </a:ln>
        </p:spPr>
        <p:txBody>
          <a:bodyPr rtlCol="0" anchor="ctr"/>
          <a:lstStyle/>
          <a:p>
            <a:pPr algn="ctr"/>
          </a:p>
        </p:txBody>
      </p:sp>
      <p:sp>
        <p:nvSpPr>
          <p:cNvPr id="7" name="TextBox 6"/>
          <p:cNvSpPr txBox="1"/>
          <p:nvPr/>
        </p:nvSpPr>
        <p:spPr>
          <a:xfrm>
            <a:off x="749808" y="1481328"/>
            <a:ext cx="420624" cy="42062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14323F"/>
                </a:solidFill>
                <a:latin typeface="Times New Roman"/>
                <a:ea typeface="Times New Roman"/>
                <a:cs typeface="Times New Roman"/>
              </a:rPr>
              <a:t>1</a:t>
            </a:r>
          </a:p>
        </p:txBody>
      </p:sp>
      <p:sp>
        <p:nvSpPr>
          <p:cNvPr id="8" name="TextBox 7"/>
          <p:cNvSpPr txBox="1"/>
          <p:nvPr/>
        </p:nvSpPr>
        <p:spPr>
          <a:xfrm>
            <a:off x="749808" y="2057400"/>
            <a:ext cx="2176272" cy="109728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Social institutions are organized and lasting systems that meet the basic needs of society.</a:t>
            </a:r>
          </a:p>
        </p:txBody>
      </p:sp>
      <p:sp>
        <p:nvSpPr>
          <p:cNvPr id="9" name="Rounded Rectangle 8"/>
          <p:cNvSpPr/>
          <p:nvPr/>
        </p:nvSpPr>
        <p:spPr>
          <a:xfrm>
            <a:off x="3291840" y="1280160"/>
            <a:ext cx="2560320" cy="1965960"/>
          </a:xfrm>
          <a:prstGeom prst="roundRect">
            <a:avLst>
              <a:gd name="adj" fmla="val 5581"/>
            </a:avLst>
          </a:prstGeom>
          <a:solidFill>
            <a:srgbClr val="1F4656"/>
          </a:solidFill>
          <a:ln>
            <a:noFill/>
          </a:ln>
        </p:spPr>
        <p:txBody>
          <a:bodyPr rtlCol="0" anchor="ctr"/>
          <a:lstStyle/>
          <a:p>
            <a:pPr algn="ctr"/>
          </a:p>
        </p:txBody>
      </p:sp>
      <p:sp>
        <p:nvSpPr>
          <p:cNvPr id="10" name="Oval 9"/>
          <p:cNvSpPr/>
          <p:nvPr/>
        </p:nvSpPr>
        <p:spPr>
          <a:xfrm>
            <a:off x="3493008" y="1481328"/>
            <a:ext cx="420624" cy="420624"/>
          </a:xfrm>
          <a:prstGeom prst="ellipse">
            <a:avLst/>
          </a:prstGeom>
          <a:solidFill>
            <a:srgbClr val="E3A23B"/>
          </a:solidFill>
          <a:ln>
            <a:noFill/>
          </a:ln>
        </p:spPr>
        <p:txBody>
          <a:bodyPr rtlCol="0" anchor="ctr"/>
          <a:lstStyle/>
          <a:p>
            <a:pPr algn="ctr"/>
          </a:p>
        </p:txBody>
      </p:sp>
      <p:sp>
        <p:nvSpPr>
          <p:cNvPr id="11" name="TextBox 10"/>
          <p:cNvSpPr txBox="1"/>
          <p:nvPr/>
        </p:nvSpPr>
        <p:spPr>
          <a:xfrm>
            <a:off x="3493008" y="1481328"/>
            <a:ext cx="420624" cy="42062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14323F"/>
                </a:solidFill>
                <a:latin typeface="Times New Roman"/>
                <a:ea typeface="Times New Roman"/>
                <a:cs typeface="Times New Roman"/>
              </a:rPr>
              <a:t>2</a:t>
            </a:r>
          </a:p>
        </p:txBody>
      </p:sp>
      <p:sp>
        <p:nvSpPr>
          <p:cNvPr id="12" name="TextBox 11"/>
          <p:cNvSpPr txBox="1"/>
          <p:nvPr/>
        </p:nvSpPr>
        <p:spPr>
          <a:xfrm>
            <a:off x="3493008" y="2057400"/>
            <a:ext cx="2176272" cy="109728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Family, education, religion, economy and the state are the five major institutions, and each depends on the others.</a:t>
            </a:r>
          </a:p>
        </p:txBody>
      </p:sp>
      <p:sp>
        <p:nvSpPr>
          <p:cNvPr id="13" name="Rounded Rectangle 12"/>
          <p:cNvSpPr/>
          <p:nvPr/>
        </p:nvSpPr>
        <p:spPr>
          <a:xfrm>
            <a:off x="6035040" y="1280160"/>
            <a:ext cx="2560320" cy="1965960"/>
          </a:xfrm>
          <a:prstGeom prst="roundRect">
            <a:avLst>
              <a:gd name="adj" fmla="val 5581"/>
            </a:avLst>
          </a:prstGeom>
          <a:solidFill>
            <a:srgbClr val="1F4656"/>
          </a:solidFill>
          <a:ln>
            <a:noFill/>
          </a:ln>
        </p:spPr>
        <p:txBody>
          <a:bodyPr rtlCol="0" anchor="ctr"/>
          <a:lstStyle/>
          <a:p>
            <a:pPr algn="ctr"/>
          </a:p>
        </p:txBody>
      </p:sp>
      <p:sp>
        <p:nvSpPr>
          <p:cNvPr id="14" name="Oval 13"/>
          <p:cNvSpPr/>
          <p:nvPr/>
        </p:nvSpPr>
        <p:spPr>
          <a:xfrm>
            <a:off x="6236207" y="1481328"/>
            <a:ext cx="420624" cy="420624"/>
          </a:xfrm>
          <a:prstGeom prst="ellipse">
            <a:avLst/>
          </a:prstGeom>
          <a:solidFill>
            <a:srgbClr val="E3A23B"/>
          </a:solidFill>
          <a:ln>
            <a:noFill/>
          </a:ln>
        </p:spPr>
        <p:txBody>
          <a:bodyPr rtlCol="0" anchor="ctr"/>
          <a:lstStyle/>
          <a:p>
            <a:pPr algn="ctr"/>
          </a:p>
        </p:txBody>
      </p:sp>
      <p:sp>
        <p:nvSpPr>
          <p:cNvPr id="15" name="TextBox 14"/>
          <p:cNvSpPr txBox="1"/>
          <p:nvPr/>
        </p:nvSpPr>
        <p:spPr>
          <a:xfrm>
            <a:off x="6236207" y="1481328"/>
            <a:ext cx="420624" cy="420624"/>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14323F"/>
                </a:solidFill>
                <a:latin typeface="Times New Roman"/>
                <a:ea typeface="Times New Roman"/>
                <a:cs typeface="Times New Roman"/>
              </a:rPr>
              <a:t>3</a:t>
            </a:r>
          </a:p>
        </p:txBody>
      </p:sp>
      <p:sp>
        <p:nvSpPr>
          <p:cNvPr id="16" name="TextBox 15"/>
          <p:cNvSpPr txBox="1"/>
          <p:nvPr/>
        </p:nvSpPr>
        <p:spPr>
          <a:xfrm>
            <a:off x="6236207" y="2057400"/>
            <a:ext cx="2176272" cy="1097280"/>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FFFFFF"/>
                </a:solidFill>
                <a:latin typeface="Times New Roman"/>
                <a:ea typeface="Times New Roman"/>
                <a:cs typeface="Times New Roman"/>
              </a:rPr>
              <a:t>Institutions bring order and continuity, yet they also change with society, for example the shift from joint to nuclear families in cities.</a:t>
            </a:r>
          </a:p>
        </p:txBody>
      </p:sp>
      <p:sp>
        <p:nvSpPr>
          <p:cNvPr id="17" name="TextBox 16"/>
          <p:cNvSpPr txBox="1"/>
          <p:nvPr/>
        </p:nvSpPr>
        <p:spPr>
          <a:xfrm>
            <a:off x="548640" y="3611880"/>
            <a:ext cx="8046720" cy="36576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100" b="0" i="1">
                <a:solidFill>
                  <a:srgbClr val="E3A23B"/>
                </a:solidFill>
                <a:latin typeface="Times New Roman"/>
                <a:ea typeface="Times New Roman"/>
                <a:cs typeface="Times New Roman"/>
              </a:rPr>
              <a:t>Strong institutions build a strong and stable society.</a:t>
            </a:r>
          </a:p>
        </p:txBody>
      </p:sp>
      <p:sp>
        <p:nvSpPr>
          <p:cNvPr id="18"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9FB7BE"/>
                </a:solidFill>
                <a:latin typeface="Times New Roman"/>
                <a:ea typeface="Times New Roman"/>
                <a:cs typeface="Times New Roman"/>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960120" y="301752"/>
            <a:ext cx="7223760" cy="384048"/>
          </a:xfrm>
        </p:spPr>
        <p:txBody>
          <a:bodyPr wrap="square" lIns="0" rIns="0" tIns="0" bIns="0" anchor="ctr">
            <a:noAutofit/>
          </a:bodyPr>
          <a:lstStyle/>
          <a:p>
            <a:pPr algn="l" marL="0" indent="0">
              <a:lnSpc>
                <a:spcPct val="100000"/>
              </a:lnSpc>
              <a:spcBef>
                <a:spcPts val="0"/>
              </a:spcBef>
              <a:spcAft>
                <a:spcPts val="0"/>
              </a:spcAft>
              <a:buNone/>
            </a:pPr>
            <a:r>
              <a:rPr sz="2000" b="1" i="0">
                <a:solidFill>
                  <a:srgbClr val="14323F"/>
                </a:solidFill>
                <a:latin typeface="Times New Roman"/>
                <a:ea typeface="Times New Roman"/>
                <a:cs typeface="Times New Roman"/>
              </a:rPr>
              <a:t>References</a:t>
            </a:r>
          </a:p>
        </p:txBody>
      </p:sp>
      <p:sp>
        <p:nvSpPr>
          <p:cNvPr id="3" name="Oval 2"/>
          <p:cNvSpPr/>
          <p:nvPr/>
        </p:nvSpPr>
        <p:spPr>
          <a:xfrm>
            <a:off x="457200" y="301752"/>
            <a:ext cx="384048" cy="384048"/>
          </a:xfrm>
          <a:prstGeom prst="ellipse">
            <a:avLst/>
          </a:prstGeom>
          <a:solidFill>
            <a:srgbClr val="1F6F78"/>
          </a:solidFill>
          <a:ln>
            <a:noFill/>
          </a:ln>
        </p:spPr>
        <p:txBody>
          <a:bodyPr rtlCol="0" anchor="ctr"/>
          <a:lstStyle/>
          <a:p>
            <a:pPr algn="ctr"/>
          </a:p>
        </p:txBody>
      </p:sp>
      <p:pic>
        <p:nvPicPr>
          <p:cNvPr id="4" name="Icon E8F1" descr="image.png"/>
          <p:cNvPicPr>
            <a:picLocks noChangeAspect="1"/>
          </p:cNvPicPr>
          <p:nvPr/>
        </p:nvPicPr>
        <p:blipFill>
          <a:blip r:embed="rId2"/>
          <a:stretch>
            <a:fillRect/>
          </a:stretch>
        </p:blipFill>
        <p:spPr>
          <a:xfrm>
            <a:off x="541690" y="386242"/>
            <a:ext cx="215066" cy="215066"/>
          </a:xfrm>
          <a:prstGeom prst="rect">
            <a:avLst/>
          </a:prstGeom>
        </p:spPr>
      </p:pic>
      <p:sp>
        <p:nvSpPr>
          <p:cNvPr id="5" name="Footer"/>
          <p:cNvSpPr txBox="1"/>
          <p:nvPr/>
        </p:nvSpPr>
        <p:spPr>
          <a:xfrm>
            <a:off x="457200" y="4736592"/>
            <a:ext cx="3657600" cy="246888"/>
          </a:xfrm>
          <a:prstGeom prst="rect">
            <a:avLst/>
          </a:prstGeom>
          <a:noFill/>
        </p:spPr>
        <p:txBody>
          <a:bodyPr wrap="square" lIns="0" rIns="0" tIns="0" bIns="0" anchor="t">
            <a:noAutofit/>
          </a:bodyPr>
          <a:lstStyle/>
          <a:p>
            <a:pPr algn="l" marL="0" indent="0">
              <a:lnSpc>
                <a:spcPct val="100000"/>
              </a:lnSpc>
              <a:spcBef>
                <a:spcPts val="0"/>
              </a:spcBef>
              <a:spcAft>
                <a:spcPts val="0"/>
              </a:spcAft>
              <a:buNone/>
            </a:pPr>
            <a:r>
              <a:rPr sz="1100" b="0" i="0">
                <a:solidFill>
                  <a:srgbClr val="56646B"/>
                </a:solidFill>
                <a:latin typeface="Times New Roman"/>
                <a:ea typeface="Times New Roman"/>
                <a:cs typeface="Times New Roman"/>
              </a:rPr>
              <a:t>Social Institutions</a:t>
            </a:r>
          </a:p>
        </p:txBody>
      </p:sp>
      <p:sp>
        <p:nvSpPr>
          <p:cNvPr id="6" name="Slide number"/>
          <p:cNvSpPr txBox="1"/>
          <p:nvPr/>
        </p:nvSpPr>
        <p:spPr>
          <a:xfrm>
            <a:off x="7772400" y="4736592"/>
            <a:ext cx="914400" cy="246888"/>
          </a:xfrm>
          <a:prstGeom prst="rect">
            <a:avLst/>
          </a:prstGeom>
          <a:noFill/>
        </p:spPr>
        <p:txBody>
          <a:bodyPr wrap="square" lIns="0" rIns="0" tIns="0" bIns="0" anchor="t">
            <a:noAutofit/>
          </a:bodyPr>
          <a:lstStyle/>
          <a:p>
            <a:pPr algn="r" marL="0" indent="0">
              <a:lnSpc>
                <a:spcPct val="100000"/>
              </a:lnSpc>
              <a:spcBef>
                <a:spcPts val="0"/>
              </a:spcBef>
              <a:spcAft>
                <a:spcPts val="0"/>
              </a:spcAft>
              <a:buNone/>
            </a:pPr>
            <a:r>
              <a:rPr sz="1100" b="0" i="0">
                <a:solidFill>
                  <a:srgbClr val="56646B"/>
                </a:solidFill>
                <a:latin typeface="Times New Roman"/>
                <a:ea typeface="Times New Roman"/>
                <a:cs typeface="Times New Roman"/>
              </a:rPr>
              <a:t>17</a:t>
            </a:r>
          </a:p>
        </p:txBody>
      </p:sp>
      <p:sp>
        <p:nvSpPr>
          <p:cNvPr id="7" name="TextBox 6"/>
          <p:cNvSpPr txBox="1"/>
          <p:nvPr/>
        </p:nvSpPr>
        <p:spPr>
          <a:xfrm>
            <a:off x="457200" y="914400"/>
            <a:ext cx="8229600" cy="3703320"/>
          </a:xfrm>
          <a:prstGeom prst="rect">
            <a:avLst/>
          </a:prstGeom>
          <a:noFill/>
        </p:spPr>
        <p:txBody>
          <a:bodyPr wrap="square" lIns="0" rIns="0" tIns="0" bIns="0" anchor="t">
            <a:noAutofit/>
          </a:bodyPr>
          <a:lstStyle/>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Constitution of the Islamic Republic of Pakistan. (1973). National Assembly of Pakistan.</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Durkheim, E. (1984). </a:t>
            </a:r>
            <a:r>
              <a:rPr sz="1100" b="0" i="1">
                <a:solidFill>
                  <a:srgbClr val="1E2A30"/>
                </a:solidFill>
                <a:latin typeface="Times New Roman"/>
                <a:ea typeface="Times New Roman"/>
                <a:cs typeface="Times New Roman"/>
              </a:rPr>
              <a:t>The division of labor in society</a:t>
            </a:r>
            <a:r>
              <a:rPr sz="1100" b="0" i="0">
                <a:solidFill>
                  <a:srgbClr val="1E2A30"/>
                </a:solidFill>
                <a:latin typeface="Times New Roman"/>
                <a:ea typeface="Times New Roman"/>
                <a:cs typeface="Times New Roman"/>
              </a:rPr>
              <a:t> (W. D. Halls, Trans.). Free Press. (Original work published 1893)</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Durkheim, E. (1995). </a:t>
            </a:r>
            <a:r>
              <a:rPr sz="1100" b="0" i="1">
                <a:solidFill>
                  <a:srgbClr val="1E2A30"/>
                </a:solidFill>
                <a:latin typeface="Times New Roman"/>
                <a:ea typeface="Times New Roman"/>
                <a:cs typeface="Times New Roman"/>
              </a:rPr>
              <a:t>The elementary forms of religious life</a:t>
            </a:r>
            <a:r>
              <a:rPr sz="1100" b="0" i="0">
                <a:solidFill>
                  <a:srgbClr val="1E2A30"/>
                </a:solidFill>
                <a:latin typeface="Times New Roman"/>
                <a:ea typeface="Times New Roman"/>
                <a:cs typeface="Times New Roman"/>
              </a:rPr>
              <a:t> (K. E. Fields, Trans.). Free Press. (Original work published 1912)</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Horton, P. B., &amp; Hunt, C. L. (1984). </a:t>
            </a:r>
            <a:r>
              <a:rPr sz="1100" b="0" i="1">
                <a:solidFill>
                  <a:srgbClr val="1E2A30"/>
                </a:solidFill>
                <a:latin typeface="Times New Roman"/>
                <a:ea typeface="Times New Roman"/>
                <a:cs typeface="Times New Roman"/>
              </a:rPr>
              <a:t>Sociology</a:t>
            </a:r>
            <a:r>
              <a:rPr sz="1100" b="0" i="0">
                <a:solidFill>
                  <a:srgbClr val="1E2A30"/>
                </a:solidFill>
                <a:latin typeface="Times New Roman"/>
                <a:ea typeface="Times New Roman"/>
                <a:cs typeface="Times New Roman"/>
              </a:rPr>
              <a:t> (6th ed.). McGraw-Hill.</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Macionis, J. J. (2018). </a:t>
            </a:r>
            <a:r>
              <a:rPr sz="1100" b="0" i="1">
                <a:solidFill>
                  <a:srgbClr val="1E2A30"/>
                </a:solidFill>
                <a:latin typeface="Times New Roman"/>
                <a:ea typeface="Times New Roman"/>
                <a:cs typeface="Times New Roman"/>
              </a:rPr>
              <a:t>Sociology</a:t>
            </a:r>
            <a:r>
              <a:rPr sz="1100" b="0" i="0">
                <a:solidFill>
                  <a:srgbClr val="1E2A30"/>
                </a:solidFill>
                <a:latin typeface="Times New Roman"/>
                <a:ea typeface="Times New Roman"/>
                <a:cs typeface="Times New Roman"/>
              </a:rPr>
              <a:t> (16th ed.). Pearson.</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Merton, R. K. (1968). </a:t>
            </a:r>
            <a:r>
              <a:rPr sz="1100" b="0" i="1">
                <a:solidFill>
                  <a:srgbClr val="1E2A30"/>
                </a:solidFill>
                <a:latin typeface="Times New Roman"/>
                <a:ea typeface="Times New Roman"/>
                <a:cs typeface="Times New Roman"/>
              </a:rPr>
              <a:t>Social theory and social structure</a:t>
            </a:r>
            <a:r>
              <a:rPr sz="1100" b="0" i="0">
                <a:solidFill>
                  <a:srgbClr val="1E2A30"/>
                </a:solidFill>
                <a:latin typeface="Times New Roman"/>
                <a:ea typeface="Times New Roman"/>
                <a:cs typeface="Times New Roman"/>
              </a:rPr>
              <a:t> (Enlarged ed.). Free Press.</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Murdock, G. P. (1949). </a:t>
            </a:r>
            <a:r>
              <a:rPr sz="1100" b="0" i="1">
                <a:solidFill>
                  <a:srgbClr val="1E2A30"/>
                </a:solidFill>
                <a:latin typeface="Times New Roman"/>
                <a:ea typeface="Times New Roman"/>
                <a:cs typeface="Times New Roman"/>
              </a:rPr>
              <a:t>Social structure</a:t>
            </a:r>
            <a:r>
              <a:rPr sz="1100" b="0" i="0">
                <a:solidFill>
                  <a:srgbClr val="1E2A30"/>
                </a:solidFill>
                <a:latin typeface="Times New Roman"/>
                <a:ea typeface="Times New Roman"/>
                <a:cs typeface="Times New Roman"/>
              </a:rPr>
              <a:t>. Macmillan.</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Sumner, W. G. (1906). </a:t>
            </a:r>
            <a:r>
              <a:rPr sz="1100" b="0" i="1">
                <a:solidFill>
                  <a:srgbClr val="1E2A30"/>
                </a:solidFill>
                <a:latin typeface="Times New Roman"/>
                <a:ea typeface="Times New Roman"/>
                <a:cs typeface="Times New Roman"/>
              </a:rPr>
              <a:t>Folkways</a:t>
            </a:r>
            <a:r>
              <a:rPr sz="1100" b="0" i="0">
                <a:solidFill>
                  <a:srgbClr val="1E2A30"/>
                </a:solidFill>
                <a:latin typeface="Times New Roman"/>
                <a:ea typeface="Times New Roman"/>
                <a:cs typeface="Times New Roman"/>
              </a:rPr>
              <a:t>. Ginn and Company.</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Weber, M. (1978). </a:t>
            </a:r>
            <a:r>
              <a:rPr sz="1100" b="0" i="1">
                <a:solidFill>
                  <a:srgbClr val="1E2A30"/>
                </a:solidFill>
                <a:latin typeface="Times New Roman"/>
                <a:ea typeface="Times New Roman"/>
                <a:cs typeface="Times New Roman"/>
              </a:rPr>
              <a:t>Economy and society</a:t>
            </a:r>
            <a:r>
              <a:rPr sz="1100" b="0" i="0">
                <a:solidFill>
                  <a:srgbClr val="1E2A30"/>
                </a:solidFill>
                <a:latin typeface="Times New Roman"/>
                <a:ea typeface="Times New Roman"/>
                <a:cs typeface="Times New Roman"/>
              </a:rPr>
              <a:t> (G. Roth &amp; C. Wittich, Eds.). University of California Press. (Original work published 1922)</a:t>
            </a:r>
          </a:p>
          <a:p>
            <a:pPr algn="l" marL="365760" indent="-365760">
              <a:lnSpc>
                <a:spcPct val="100000"/>
              </a:lnSpc>
              <a:spcBef>
                <a:spcPts val="0"/>
              </a:spcBef>
              <a:spcAft>
                <a:spcPts val="900"/>
              </a:spcAft>
              <a:buNone/>
            </a:pPr>
            <a:r>
              <a:rPr sz="1100" b="0" i="0">
                <a:solidFill>
                  <a:srgbClr val="1E2A30"/>
                </a:solidFill>
                <a:latin typeface="Times New Roman"/>
                <a:ea typeface="Times New Roman"/>
                <a:cs typeface="Times New Roman"/>
              </a:rPr>
              <a:t>Weber, M. (2001). </a:t>
            </a:r>
            <a:r>
              <a:rPr sz="1100" b="0" i="1">
                <a:solidFill>
                  <a:srgbClr val="1E2A30"/>
                </a:solidFill>
                <a:latin typeface="Times New Roman"/>
                <a:ea typeface="Times New Roman"/>
                <a:cs typeface="Times New Roman"/>
              </a:rPr>
              <a:t>The Protestant ethic and the spirit of capitalism</a:t>
            </a:r>
            <a:r>
              <a:rPr sz="1100" b="0" i="0">
                <a:solidFill>
                  <a:srgbClr val="1E2A30"/>
                </a:solidFill>
                <a:latin typeface="Times New Roman"/>
                <a:ea typeface="Times New Roman"/>
                <a:cs typeface="Times New Roman"/>
              </a:rPr>
              <a:t> (T. Parsons, Trans.). Routledge. (Original work published 1905)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4323F"/>
        </a:solidFill>
        <a:effectLst/>
      </p:bgPr>
    </p:bg>
    <p:spTree>
      <p:nvGrpSpPr>
        <p:cNvPr id="1" name=""/>
        <p:cNvGrpSpPr/>
        <p:nvPr/>
      </p:nvGrpSpPr>
      <p:grpSpPr/>
      <p:sp>
        <p:nvSpPr>
          <p:cNvPr id="2" name="Title"/>
          <p:cNvSpPr>
            <a:spLocks noGrp="1"/>
          </p:cNvSpPr>
          <p:nvPr>
            <p:ph type="title"/>
          </p:nvPr>
        </p:nvSpPr>
        <p:spPr>
          <a:xfrm>
            <a:off x="2286000" y="3520440"/>
            <a:ext cx="4572000" cy="457200"/>
          </a:xfrm>
        </p:spPr>
        <p:txBody>
          <a:bodyPr wrap="square" lIns="0" rIns="0" tIns="0" bIns="0" anchor="ctr">
            <a:noAutofit/>
          </a:bodyPr>
          <a:lstStyle/>
          <a:p>
            <a:pPr algn="ctr" marL="0" indent="0">
              <a:lnSpc>
                <a:spcPct val="100000"/>
              </a:lnSpc>
              <a:spcBef>
                <a:spcPts val="0"/>
              </a:spcBef>
              <a:spcAft>
                <a:spcPts val="0"/>
              </a:spcAft>
              <a:buNone/>
            </a:pPr>
            <a:r>
              <a:rPr sz="2800" b="1" i="0">
                <a:solidFill>
                  <a:srgbClr val="FFFFFF"/>
                </a:solidFill>
                <a:latin typeface="Times New Roman"/>
                <a:ea typeface="Times New Roman"/>
                <a:cs typeface="Times New Roman"/>
              </a:rPr>
              <a:t>Thank You</a:t>
            </a:r>
          </a:p>
        </p:txBody>
      </p:sp>
      <p:cxnSp>
        <p:nvCxnSpPr>
          <p:cNvPr id="3" name="Connector 2"/>
          <p:cNvCxnSpPr/>
          <p:nvPr/>
        </p:nvCxnSpPr>
        <p:spPr>
          <a:xfrm flipV="1">
            <a:off x="4572000" y="1097280"/>
            <a:ext cx="0" cy="1051560"/>
          </a:xfrm>
          <a:prstGeom prst="line">
            <a:avLst/>
          </a:prstGeom>
          <a:ln w="19050">
            <a:solidFill>
              <a:srgbClr val="3E6B7A"/>
            </a:solidFill>
          </a:ln>
        </p:spPr>
      </p:cxnSp>
      <p:cxnSp>
        <p:nvCxnSpPr>
          <p:cNvPr id="4" name="Connector 3"/>
          <p:cNvCxnSpPr/>
          <p:nvPr/>
        </p:nvCxnSpPr>
        <p:spPr>
          <a:xfrm flipV="1">
            <a:off x="4572000" y="1823890"/>
            <a:ext cx="1000092" cy="324950"/>
          </a:xfrm>
          <a:prstGeom prst="line">
            <a:avLst/>
          </a:prstGeom>
          <a:ln w="19050">
            <a:solidFill>
              <a:srgbClr val="3E6B7A"/>
            </a:solidFill>
          </a:ln>
        </p:spPr>
      </p:cxnSp>
      <p:cxnSp>
        <p:nvCxnSpPr>
          <p:cNvPr id="5" name="Connector 4"/>
          <p:cNvCxnSpPr/>
          <p:nvPr/>
        </p:nvCxnSpPr>
        <p:spPr>
          <a:xfrm>
            <a:off x="4572000" y="2148840"/>
            <a:ext cx="618091" cy="850729"/>
          </a:xfrm>
          <a:prstGeom prst="line">
            <a:avLst/>
          </a:prstGeom>
          <a:ln w="19050">
            <a:solidFill>
              <a:srgbClr val="3E6B7A"/>
            </a:solidFill>
          </a:ln>
        </p:spPr>
      </p:cxnSp>
      <p:cxnSp>
        <p:nvCxnSpPr>
          <p:cNvPr id="6" name="Connector 5"/>
          <p:cNvCxnSpPr/>
          <p:nvPr/>
        </p:nvCxnSpPr>
        <p:spPr>
          <a:xfrm flipH="1">
            <a:off x="3953908" y="2148840"/>
            <a:ext cx="618092" cy="850729"/>
          </a:xfrm>
          <a:prstGeom prst="line">
            <a:avLst/>
          </a:prstGeom>
          <a:ln w="19050">
            <a:solidFill>
              <a:srgbClr val="3E6B7A"/>
            </a:solidFill>
          </a:ln>
        </p:spPr>
      </p:cxnSp>
      <p:cxnSp>
        <p:nvCxnSpPr>
          <p:cNvPr id="7" name="Connector 6"/>
          <p:cNvCxnSpPr/>
          <p:nvPr/>
        </p:nvCxnSpPr>
        <p:spPr>
          <a:xfrm flipH="1" flipV="1">
            <a:off x="3571907" y="1823890"/>
            <a:ext cx="1000093" cy="324950"/>
          </a:xfrm>
          <a:prstGeom prst="line">
            <a:avLst/>
          </a:prstGeom>
          <a:ln w="19050">
            <a:solidFill>
              <a:srgbClr val="3E6B7A"/>
            </a:solidFill>
          </a:ln>
        </p:spPr>
      </p:cxnSp>
      <p:sp>
        <p:nvSpPr>
          <p:cNvPr id="8" name="Oval 7"/>
          <p:cNvSpPr/>
          <p:nvPr/>
        </p:nvSpPr>
        <p:spPr>
          <a:xfrm>
            <a:off x="4206240" y="1783080"/>
            <a:ext cx="731520" cy="731520"/>
          </a:xfrm>
          <a:prstGeom prst="ellipse">
            <a:avLst/>
          </a:prstGeom>
          <a:solidFill>
            <a:srgbClr val="E3A23B"/>
          </a:solidFill>
          <a:ln>
            <a:noFill/>
          </a:ln>
        </p:spPr>
        <p:txBody>
          <a:bodyPr rtlCol="0" anchor="ctr"/>
          <a:lstStyle/>
          <a:p>
            <a:pPr algn="ctr"/>
          </a:p>
        </p:txBody>
      </p:sp>
      <p:sp>
        <p:nvSpPr>
          <p:cNvPr id="9" name="Society"/>
          <p:cNvSpPr txBox="1"/>
          <p:nvPr/>
        </p:nvSpPr>
        <p:spPr>
          <a:xfrm>
            <a:off x="4206240" y="1783080"/>
            <a:ext cx="731520" cy="731520"/>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200" b="1" i="0">
                <a:solidFill>
                  <a:srgbClr val="14323F"/>
                </a:solidFill>
                <a:latin typeface="Times New Roman"/>
                <a:ea typeface="Times New Roman"/>
                <a:cs typeface="Times New Roman"/>
              </a:rPr>
              <a:t>Society</a:t>
            </a:r>
          </a:p>
        </p:txBody>
      </p:sp>
      <p:sp>
        <p:nvSpPr>
          <p:cNvPr id="10" name="Oval 9"/>
          <p:cNvSpPr/>
          <p:nvPr/>
        </p:nvSpPr>
        <p:spPr>
          <a:xfrm>
            <a:off x="4297680" y="822960"/>
            <a:ext cx="548640" cy="548640"/>
          </a:xfrm>
          <a:prstGeom prst="ellipse">
            <a:avLst/>
          </a:prstGeom>
          <a:solidFill>
            <a:srgbClr val="C2553F"/>
          </a:solidFill>
          <a:ln>
            <a:noFill/>
          </a:ln>
        </p:spPr>
        <p:txBody>
          <a:bodyPr rtlCol="0" anchor="ctr"/>
          <a:lstStyle/>
          <a:p>
            <a:pPr algn="ctr"/>
          </a:p>
        </p:txBody>
      </p:sp>
      <p:pic>
        <p:nvPicPr>
          <p:cNvPr id="11" name="Icon E902" descr="image.png"/>
          <p:cNvPicPr>
            <a:picLocks noChangeAspect="1"/>
          </p:cNvPicPr>
          <p:nvPr/>
        </p:nvPicPr>
        <p:blipFill>
          <a:blip r:embed="rId2"/>
          <a:stretch>
            <a:fillRect/>
          </a:stretch>
        </p:blipFill>
        <p:spPr>
          <a:xfrm>
            <a:off x="4418380" y="943660"/>
            <a:ext cx="307238" cy="307238"/>
          </a:xfrm>
          <a:prstGeom prst="rect">
            <a:avLst/>
          </a:prstGeom>
        </p:spPr>
      </p:pic>
      <p:sp>
        <p:nvSpPr>
          <p:cNvPr id="12" name="Oval 11"/>
          <p:cNvSpPr/>
          <p:nvPr/>
        </p:nvSpPr>
        <p:spPr>
          <a:xfrm>
            <a:off x="5297772" y="1549570"/>
            <a:ext cx="548640" cy="548640"/>
          </a:xfrm>
          <a:prstGeom prst="ellipse">
            <a:avLst/>
          </a:prstGeom>
          <a:solidFill>
            <a:srgbClr val="2B6F8E"/>
          </a:solidFill>
          <a:ln>
            <a:noFill/>
          </a:ln>
        </p:spPr>
        <p:txBody>
          <a:bodyPr rtlCol="0" anchor="ctr"/>
          <a:lstStyle/>
          <a:p>
            <a:pPr algn="ctr"/>
          </a:p>
        </p:txBody>
      </p:sp>
      <p:pic>
        <p:nvPicPr>
          <p:cNvPr id="13" name="Icon E7BE" descr="image.png"/>
          <p:cNvPicPr>
            <a:picLocks noChangeAspect="1"/>
          </p:cNvPicPr>
          <p:nvPr/>
        </p:nvPicPr>
        <p:blipFill>
          <a:blip r:embed="rId3"/>
          <a:stretch>
            <a:fillRect/>
          </a:stretch>
        </p:blipFill>
        <p:spPr>
          <a:xfrm>
            <a:off x="5418473" y="1670270"/>
            <a:ext cx="307238" cy="307238"/>
          </a:xfrm>
          <a:prstGeom prst="rect">
            <a:avLst/>
          </a:prstGeom>
        </p:spPr>
      </p:pic>
      <p:sp>
        <p:nvSpPr>
          <p:cNvPr id="14" name="Oval 13"/>
          <p:cNvSpPr/>
          <p:nvPr/>
        </p:nvSpPr>
        <p:spPr>
          <a:xfrm>
            <a:off x="4915771" y="2725249"/>
            <a:ext cx="548640" cy="548640"/>
          </a:xfrm>
          <a:prstGeom prst="ellipse">
            <a:avLst/>
          </a:prstGeom>
          <a:solidFill>
            <a:srgbClr val="3B7F52"/>
          </a:solidFill>
          <a:ln>
            <a:noFill/>
          </a:ln>
        </p:spPr>
        <p:txBody>
          <a:bodyPr rtlCol="0" anchor="ctr"/>
          <a:lstStyle/>
          <a:p>
            <a:pPr algn="ctr"/>
          </a:p>
        </p:txBody>
      </p:sp>
      <p:pic>
        <p:nvPicPr>
          <p:cNvPr id="15" name="Icon E708" descr="image.png"/>
          <p:cNvPicPr>
            <a:picLocks noChangeAspect="1"/>
          </p:cNvPicPr>
          <p:nvPr/>
        </p:nvPicPr>
        <p:blipFill>
          <a:blip r:embed="rId4"/>
          <a:stretch>
            <a:fillRect/>
          </a:stretch>
        </p:blipFill>
        <p:spPr>
          <a:xfrm>
            <a:off x="5036472" y="2845950"/>
            <a:ext cx="307238" cy="307238"/>
          </a:xfrm>
          <a:prstGeom prst="rect">
            <a:avLst/>
          </a:prstGeom>
        </p:spPr>
      </p:pic>
      <p:sp>
        <p:nvSpPr>
          <p:cNvPr id="16" name="Oval 15"/>
          <p:cNvSpPr/>
          <p:nvPr/>
        </p:nvSpPr>
        <p:spPr>
          <a:xfrm>
            <a:off x="3679588" y="2725249"/>
            <a:ext cx="548640" cy="548640"/>
          </a:xfrm>
          <a:prstGeom prst="ellipse">
            <a:avLst/>
          </a:prstGeom>
          <a:solidFill>
            <a:srgbClr val="8F6516"/>
          </a:solidFill>
          <a:ln>
            <a:noFill/>
          </a:ln>
        </p:spPr>
        <p:txBody>
          <a:bodyPr rtlCol="0" anchor="ctr"/>
          <a:lstStyle/>
          <a:p>
            <a:pPr algn="ctr"/>
          </a:p>
        </p:txBody>
      </p:sp>
      <p:pic>
        <p:nvPicPr>
          <p:cNvPr id="17" name="Icon EAFC" descr="image.png"/>
          <p:cNvPicPr>
            <a:picLocks noChangeAspect="1"/>
          </p:cNvPicPr>
          <p:nvPr/>
        </p:nvPicPr>
        <p:blipFill>
          <a:blip r:embed="rId5"/>
          <a:stretch>
            <a:fillRect/>
          </a:stretch>
        </p:blipFill>
        <p:spPr>
          <a:xfrm>
            <a:off x="3800289" y="2845950"/>
            <a:ext cx="307238" cy="307238"/>
          </a:xfrm>
          <a:prstGeom prst="rect">
            <a:avLst/>
          </a:prstGeom>
        </p:spPr>
      </p:pic>
      <p:sp>
        <p:nvSpPr>
          <p:cNvPr id="18" name="Oval 17"/>
          <p:cNvSpPr/>
          <p:nvPr/>
        </p:nvSpPr>
        <p:spPr>
          <a:xfrm>
            <a:off x="3297587" y="1549570"/>
            <a:ext cx="548640" cy="548640"/>
          </a:xfrm>
          <a:prstGeom prst="ellipse">
            <a:avLst/>
          </a:prstGeom>
          <a:solidFill>
            <a:srgbClr val="5E4785"/>
          </a:solidFill>
          <a:ln>
            <a:noFill/>
          </a:ln>
        </p:spPr>
        <p:txBody>
          <a:bodyPr rtlCol="0" anchor="ctr"/>
          <a:lstStyle/>
          <a:p>
            <a:pPr algn="ctr"/>
          </a:p>
        </p:txBody>
      </p:sp>
      <p:pic>
        <p:nvPicPr>
          <p:cNvPr id="19" name="Icon E825" descr="image.png"/>
          <p:cNvPicPr>
            <a:picLocks noChangeAspect="1"/>
          </p:cNvPicPr>
          <p:nvPr/>
        </p:nvPicPr>
        <p:blipFill>
          <a:blip r:embed="rId6"/>
          <a:stretch>
            <a:fillRect/>
          </a:stretch>
        </p:blipFill>
        <p:spPr>
          <a:xfrm>
            <a:off x="3418287" y="1670270"/>
            <a:ext cx="307238" cy="307238"/>
          </a:xfrm>
          <a:prstGeom prst="rect">
            <a:avLst/>
          </a:prstGeom>
        </p:spPr>
      </p:pic>
      <p:sp>
        <p:nvSpPr>
          <p:cNvPr id="20" name="TextBox 19"/>
          <p:cNvSpPr txBox="1"/>
          <p:nvPr/>
        </p:nvSpPr>
        <p:spPr>
          <a:xfrm>
            <a:off x="2286000" y="4041648"/>
            <a:ext cx="4572000" cy="292608"/>
          </a:xfrm>
          <a:prstGeom prst="rect">
            <a:avLst/>
          </a:prstGeom>
          <a:noFill/>
        </p:spPr>
        <p:txBody>
          <a:bodyPr wrap="square" lIns="0" rIns="0" tIns="0" bIns="0" anchor="ctr">
            <a:noAutofit/>
          </a:bodyPr>
          <a:lstStyle/>
          <a:p>
            <a:pPr algn="ctr" marL="0" indent="0">
              <a:lnSpc>
                <a:spcPct val="100000"/>
              </a:lnSpc>
              <a:spcBef>
                <a:spcPts val="0"/>
              </a:spcBef>
              <a:spcAft>
                <a:spcPts val="0"/>
              </a:spcAft>
              <a:buNone/>
            </a:pPr>
            <a:r>
              <a:rPr sz="1400" b="0" i="1">
                <a:solidFill>
                  <a:srgbClr val="C9DCE1"/>
                </a:solidFill>
                <a:latin typeface="Times New Roman"/>
                <a:ea typeface="Times New Roman"/>
                <a:cs typeface="Times New Roman"/>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 Institutions</dc:title>
  <dc:subject>Sociology</dc:subject>
  <dc:creator>Hira Javed</dc:creator>
  <cp:keywords/>
  <dc:description>generated using python-pptx</dc:description>
  <cp:lastModifiedBy>Hira Javed</cp:lastModifiedBy>
  <cp:revision>1</cp:revision>
  <dcterms:created xsi:type="dcterms:W3CDTF">2013-01-27T09:14:16Z</dcterms:created>
  <dcterms:modified xsi:type="dcterms:W3CDTF">2013-01-27T09:15:58Z</dcterms:modified>
  <cp:category/>
</cp:coreProperties>
</file>